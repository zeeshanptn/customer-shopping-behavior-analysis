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4541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4541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9538" y="1448016"/>
            <a:ext cx="10419715" cy="873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37538" y="4016041"/>
            <a:ext cx="7470140" cy="397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4541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37538" y="3531752"/>
            <a:ext cx="7330440" cy="17494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 spc="635"/>
              <a:t>Customer</a:t>
            </a:r>
            <a:r>
              <a:rPr dirty="0" spc="375"/>
              <a:t> </a:t>
            </a:r>
            <a:r>
              <a:rPr dirty="0" spc="640"/>
              <a:t>Shopping </a:t>
            </a:r>
            <a:r>
              <a:rPr dirty="0" spc="540"/>
              <a:t>Behavior</a:t>
            </a:r>
            <a:r>
              <a:rPr dirty="0" spc="375"/>
              <a:t> </a:t>
            </a:r>
            <a:r>
              <a:rPr dirty="0" spc="42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37538" y="5628814"/>
            <a:ext cx="9022080" cy="920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Uncovering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insights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from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35">
                <a:solidFill>
                  <a:srgbClr val="454140"/>
                </a:solidFill>
                <a:latin typeface="Tahoma"/>
                <a:cs typeface="Tahoma"/>
              </a:rPr>
              <a:t>3,900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purchases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54140"/>
                </a:solidFill>
                <a:latin typeface="Tahoma"/>
                <a:cs typeface="Tahoma"/>
              </a:rPr>
              <a:t>guide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strategic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54140"/>
                </a:solidFill>
                <a:latin typeface="Tahoma"/>
                <a:cs typeface="Tahoma"/>
              </a:rPr>
              <a:t>business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decisions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35440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9538" y="4951425"/>
            <a:ext cx="6414135" cy="873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415">
                <a:solidFill>
                  <a:srgbClr val="5C4E3C"/>
                </a:solidFill>
                <a:latin typeface="Cambria"/>
                <a:cs typeface="Cambria"/>
              </a:rPr>
              <a:t>Dataset</a:t>
            </a:r>
            <a:r>
              <a:rPr dirty="0" sz="5550" spc="380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5550" spc="590">
                <a:solidFill>
                  <a:srgbClr val="5C4E3C"/>
                </a:solidFill>
                <a:latin typeface="Cambria"/>
                <a:cs typeface="Cambria"/>
              </a:rPr>
              <a:t>Overview</a:t>
            </a:r>
            <a:endParaRPr sz="55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4095" y="6396281"/>
            <a:ext cx="2774315" cy="1139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300" spc="775">
                <a:solidFill>
                  <a:srgbClr val="454140"/>
                </a:solidFill>
                <a:latin typeface="Cambria"/>
                <a:cs typeface="Cambria"/>
              </a:rPr>
              <a:t>3,900</a:t>
            </a:r>
            <a:endParaRPr sz="73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7992" y="7482345"/>
            <a:ext cx="4246880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39"/>
              </a:spcBef>
            </a:pPr>
            <a:r>
              <a:rPr dirty="0" sz="2750" spc="254">
                <a:solidFill>
                  <a:srgbClr val="454140"/>
                </a:solidFill>
                <a:latin typeface="Cambria"/>
                <a:cs typeface="Cambria"/>
              </a:rPr>
              <a:t>Total</a:t>
            </a:r>
            <a:r>
              <a:rPr dirty="0" sz="2750" spc="200">
                <a:solidFill>
                  <a:srgbClr val="454140"/>
                </a:solidFill>
                <a:latin typeface="Cambria"/>
                <a:cs typeface="Cambria"/>
              </a:rPr>
              <a:t> Purchases</a:t>
            </a:r>
            <a:endParaRPr sz="2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Comprehensive</a:t>
            </a:r>
            <a:r>
              <a:rPr dirty="0" sz="2150" spc="-9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transaction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data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42696" y="6396281"/>
            <a:ext cx="1002665" cy="1139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300" spc="-165">
                <a:solidFill>
                  <a:srgbClr val="454140"/>
                </a:solidFill>
                <a:latin typeface="Cambria"/>
                <a:cs typeface="Cambria"/>
              </a:rPr>
              <a:t>18</a:t>
            </a:r>
            <a:endParaRPr sz="7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8567" y="7482345"/>
            <a:ext cx="4690745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39"/>
              </a:spcBef>
            </a:pPr>
            <a:r>
              <a:rPr dirty="0" sz="2750" spc="260">
                <a:solidFill>
                  <a:srgbClr val="454140"/>
                </a:solidFill>
                <a:latin typeface="Cambria"/>
                <a:cs typeface="Cambria"/>
              </a:rPr>
              <a:t>Data</a:t>
            </a:r>
            <a:r>
              <a:rPr dirty="0" sz="2750" spc="185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340">
                <a:solidFill>
                  <a:srgbClr val="454140"/>
                </a:solidFill>
                <a:latin typeface="Cambria"/>
                <a:cs typeface="Cambria"/>
              </a:rPr>
              <a:t>Columns</a:t>
            </a:r>
            <a:endParaRPr sz="2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dirty="0" sz="2150" spc="114">
                <a:solidFill>
                  <a:srgbClr val="454140"/>
                </a:solidFill>
                <a:latin typeface="Tahoma"/>
                <a:cs typeface="Tahoma"/>
              </a:rPr>
              <a:t>Customer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demographics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45">
                <a:solidFill>
                  <a:srgbClr val="454140"/>
                </a:solidFill>
                <a:latin typeface="Tahoma"/>
                <a:cs typeface="Tahoma"/>
              </a:rPr>
              <a:t>&amp;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behavior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01400" y="5849599"/>
            <a:ext cx="3790950" cy="2830830"/>
          </a:xfrm>
          <a:prstGeom prst="rect">
            <a:avLst/>
          </a:prstGeom>
        </p:spPr>
        <p:txBody>
          <a:bodyPr wrap="square" lIns="0" tIns="560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15"/>
              </a:spcBef>
            </a:pPr>
            <a:r>
              <a:rPr dirty="0" sz="7300" spc="-25">
                <a:solidFill>
                  <a:srgbClr val="454140"/>
                </a:solidFill>
                <a:latin typeface="Cambria"/>
                <a:cs typeface="Cambria"/>
              </a:rPr>
              <a:t>37</a:t>
            </a:r>
            <a:endParaRPr sz="73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620"/>
              </a:spcBef>
            </a:pPr>
            <a:r>
              <a:rPr dirty="0" sz="2750" spc="254">
                <a:solidFill>
                  <a:srgbClr val="454140"/>
                </a:solidFill>
                <a:latin typeface="Cambria"/>
                <a:cs typeface="Cambria"/>
              </a:rPr>
              <a:t>Missing</a:t>
            </a:r>
            <a:r>
              <a:rPr dirty="0" sz="2750" spc="18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15">
                <a:solidFill>
                  <a:srgbClr val="454140"/>
                </a:solidFill>
                <a:latin typeface="Cambria"/>
                <a:cs typeface="Cambria"/>
              </a:rPr>
              <a:t>Values</a:t>
            </a:r>
            <a:endParaRPr sz="2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05"/>
              </a:spcBef>
            </a:pP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Only</a:t>
            </a:r>
            <a:r>
              <a:rPr dirty="0" sz="2150" spc="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in</a:t>
            </a:r>
            <a:r>
              <a:rPr dirty="0" sz="2150" spc="4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Review</a:t>
            </a:r>
            <a:r>
              <a:rPr dirty="0" sz="2150" spc="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Rating</a:t>
            </a:r>
            <a:r>
              <a:rPr dirty="0" sz="2150" spc="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column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9538" y="2048091"/>
            <a:ext cx="909637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530"/>
              <a:t>Data</a:t>
            </a:r>
            <a:r>
              <a:rPr dirty="0" spc="375"/>
              <a:t> </a:t>
            </a:r>
            <a:r>
              <a:rPr dirty="0" spc="465"/>
              <a:t>Preparation</a:t>
            </a:r>
            <a:r>
              <a:rPr dirty="0" spc="375"/>
              <a:t> </a:t>
            </a:r>
            <a:r>
              <a:rPr dirty="0" spc="395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9538" y="3524904"/>
            <a:ext cx="34798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45">
                <a:solidFill>
                  <a:srgbClr val="454140"/>
                </a:solidFill>
                <a:latin typeface="Cambria"/>
                <a:cs typeface="Cambria"/>
              </a:rPr>
              <a:t>01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2238" y="4004367"/>
            <a:ext cx="5245735" cy="38100"/>
          </a:xfrm>
          <a:custGeom>
            <a:avLst/>
            <a:gdLst/>
            <a:ahLst/>
            <a:cxnLst/>
            <a:rect l="l" t="t" r="r" b="b"/>
            <a:pathLst>
              <a:path w="5245735" h="38100">
                <a:moveTo>
                  <a:pt x="5245446" y="38099"/>
                </a:moveTo>
                <a:lnTo>
                  <a:pt x="0" y="38099"/>
                </a:lnTo>
                <a:lnTo>
                  <a:pt x="0" y="0"/>
                </a:lnTo>
                <a:lnTo>
                  <a:pt x="5245446" y="0"/>
                </a:lnTo>
                <a:lnTo>
                  <a:pt x="5245446" y="38099"/>
                </a:lnTo>
                <a:close/>
              </a:path>
            </a:pathLst>
          </a:custGeom>
          <a:solidFill>
            <a:srgbClr val="B88E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79538" y="3951084"/>
            <a:ext cx="4048760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60">
                <a:solidFill>
                  <a:srgbClr val="454140"/>
                </a:solidFill>
                <a:latin typeface="Cambria"/>
                <a:cs typeface="Cambria"/>
              </a:rPr>
              <a:t>Data</a:t>
            </a:r>
            <a:r>
              <a:rPr dirty="0" sz="2750" spc="185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85">
                <a:solidFill>
                  <a:srgbClr val="454140"/>
                </a:solidFill>
                <a:latin typeface="Cambria"/>
                <a:cs typeface="Cambria"/>
              </a:rPr>
              <a:t>Loading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Imported</a:t>
            </a:r>
            <a:r>
              <a:rPr dirty="0" sz="2150" spc="-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dataset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 using</a:t>
            </a:r>
            <a:r>
              <a:rPr dirty="0" sz="2150" spc="-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54140"/>
                </a:solidFill>
                <a:latin typeface="Tahoma"/>
                <a:cs typeface="Tahoma"/>
              </a:rPr>
              <a:t>pandas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8505" y="3524904"/>
            <a:ext cx="39497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29">
                <a:solidFill>
                  <a:srgbClr val="454140"/>
                </a:solidFill>
                <a:latin typeface="Cambria"/>
                <a:cs typeface="Cambria"/>
              </a:rPr>
              <a:t>02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21205" y="4004367"/>
            <a:ext cx="5245735" cy="38100"/>
          </a:xfrm>
          <a:custGeom>
            <a:avLst/>
            <a:gdLst/>
            <a:ahLst/>
            <a:cxnLst/>
            <a:rect l="l" t="t" r="r" b="b"/>
            <a:pathLst>
              <a:path w="5245734" h="38100">
                <a:moveTo>
                  <a:pt x="5245446" y="38099"/>
                </a:moveTo>
                <a:lnTo>
                  <a:pt x="0" y="38099"/>
                </a:lnTo>
                <a:lnTo>
                  <a:pt x="0" y="0"/>
                </a:lnTo>
                <a:lnTo>
                  <a:pt x="5245446" y="0"/>
                </a:lnTo>
                <a:lnTo>
                  <a:pt x="5245446" y="38099"/>
                </a:lnTo>
                <a:close/>
              </a:path>
            </a:pathLst>
          </a:custGeom>
          <a:solidFill>
            <a:srgbClr val="B88E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508505" y="3951084"/>
            <a:ext cx="5168900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190">
                <a:solidFill>
                  <a:srgbClr val="454140"/>
                </a:solidFill>
                <a:latin typeface="Cambria"/>
                <a:cs typeface="Cambria"/>
              </a:rPr>
              <a:t>Initial</a:t>
            </a:r>
            <a:r>
              <a:rPr dirty="0" sz="2750" spc="185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40">
                <a:solidFill>
                  <a:srgbClr val="454140"/>
                </a:solidFill>
                <a:latin typeface="Cambria"/>
                <a:cs typeface="Cambria"/>
              </a:rPr>
              <a:t>Exploration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80">
                <a:solidFill>
                  <a:srgbClr val="454140"/>
                </a:solidFill>
                <a:latin typeface="Tahoma"/>
                <a:cs typeface="Tahoma"/>
              </a:rPr>
              <a:t>Structure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30">
                <a:solidFill>
                  <a:srgbClr val="454140"/>
                </a:solidFill>
                <a:latin typeface="Tahoma"/>
                <a:cs typeface="Tahoma"/>
              </a:rPr>
              <a:t>check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54140"/>
                </a:solidFill>
                <a:latin typeface="Tahoma"/>
                <a:cs typeface="Tahoma"/>
              </a:rPr>
              <a:t>summary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statistics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37462" y="3524904"/>
            <a:ext cx="39497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29">
                <a:solidFill>
                  <a:srgbClr val="454140"/>
                </a:solidFill>
                <a:latin typeface="Cambria"/>
                <a:cs typeface="Cambria"/>
              </a:rPr>
              <a:t>03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050162" y="4004367"/>
            <a:ext cx="5245735" cy="38100"/>
          </a:xfrm>
          <a:custGeom>
            <a:avLst/>
            <a:gdLst/>
            <a:ahLst/>
            <a:cxnLst/>
            <a:rect l="l" t="t" r="r" b="b"/>
            <a:pathLst>
              <a:path w="5245734" h="38100">
                <a:moveTo>
                  <a:pt x="5245446" y="38099"/>
                </a:moveTo>
                <a:lnTo>
                  <a:pt x="0" y="38099"/>
                </a:lnTo>
                <a:lnTo>
                  <a:pt x="0" y="0"/>
                </a:lnTo>
                <a:lnTo>
                  <a:pt x="5245446" y="0"/>
                </a:lnTo>
                <a:lnTo>
                  <a:pt x="5245446" y="38099"/>
                </a:lnTo>
                <a:close/>
              </a:path>
            </a:pathLst>
          </a:custGeom>
          <a:solidFill>
            <a:srgbClr val="B88E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037462" y="3951084"/>
            <a:ext cx="4606925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54">
                <a:solidFill>
                  <a:srgbClr val="454140"/>
                </a:solidFill>
                <a:latin typeface="Cambria"/>
                <a:cs typeface="Cambria"/>
              </a:rPr>
              <a:t>Missing</a:t>
            </a:r>
            <a:r>
              <a:rPr dirty="0" sz="2750" spc="18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60">
                <a:solidFill>
                  <a:srgbClr val="454140"/>
                </a:solidFill>
                <a:latin typeface="Cambria"/>
                <a:cs typeface="Cambria"/>
              </a:rPr>
              <a:t>Data</a:t>
            </a:r>
            <a:r>
              <a:rPr dirty="0" sz="2750" spc="185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85">
                <a:solidFill>
                  <a:srgbClr val="454140"/>
                </a:solidFill>
                <a:latin typeface="Cambria"/>
                <a:cs typeface="Cambria"/>
              </a:rPr>
              <a:t>Handling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Imputed</a:t>
            </a:r>
            <a:r>
              <a:rPr dirty="0" sz="2150" spc="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Review</a:t>
            </a:r>
            <a:r>
              <a:rPr dirty="0" sz="2150" spc="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Rating</a:t>
            </a:r>
            <a:r>
              <a:rPr dirty="0" sz="2150" spc="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with</a:t>
            </a:r>
            <a:r>
              <a:rPr dirty="0" sz="2150" spc="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median </a:t>
            </a:r>
            <a:r>
              <a:rPr dirty="0" sz="2150" spc="45">
                <a:solidFill>
                  <a:srgbClr val="454140"/>
                </a:solidFill>
                <a:latin typeface="Tahoma"/>
                <a:cs typeface="Tahoma"/>
              </a:rPr>
              <a:t>values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9538" y="6202924"/>
            <a:ext cx="38671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95">
                <a:solidFill>
                  <a:srgbClr val="454140"/>
                </a:solidFill>
                <a:latin typeface="Cambria"/>
                <a:cs typeface="Cambria"/>
              </a:rPr>
              <a:t>04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92238" y="6682378"/>
            <a:ext cx="8010525" cy="38100"/>
          </a:xfrm>
          <a:custGeom>
            <a:avLst/>
            <a:gdLst/>
            <a:ahLst/>
            <a:cxnLst/>
            <a:rect l="l" t="t" r="r" b="b"/>
            <a:pathLst>
              <a:path w="8010525" h="38100">
                <a:moveTo>
                  <a:pt x="8009929" y="38099"/>
                </a:moveTo>
                <a:lnTo>
                  <a:pt x="0" y="38099"/>
                </a:lnTo>
                <a:lnTo>
                  <a:pt x="0" y="0"/>
                </a:lnTo>
                <a:lnTo>
                  <a:pt x="8009929" y="0"/>
                </a:lnTo>
                <a:lnTo>
                  <a:pt x="8009929" y="38099"/>
                </a:lnTo>
                <a:close/>
              </a:path>
            </a:pathLst>
          </a:custGeom>
          <a:solidFill>
            <a:srgbClr val="B88E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79538" y="6629116"/>
            <a:ext cx="5790565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20">
                <a:solidFill>
                  <a:srgbClr val="454140"/>
                </a:solidFill>
                <a:latin typeface="Cambria"/>
                <a:cs typeface="Cambria"/>
              </a:rPr>
              <a:t>Feature</a:t>
            </a:r>
            <a:r>
              <a:rPr dirty="0" sz="2750" spc="19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50">
                <a:solidFill>
                  <a:srgbClr val="454140"/>
                </a:solidFill>
                <a:latin typeface="Cambria"/>
                <a:cs typeface="Cambria"/>
              </a:rPr>
              <a:t>Engineering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114">
                <a:solidFill>
                  <a:srgbClr val="454140"/>
                </a:solidFill>
                <a:latin typeface="Tahoma"/>
                <a:cs typeface="Tahoma"/>
              </a:rPr>
              <a:t>Created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454140"/>
                </a:solidFill>
                <a:latin typeface="Tahoma"/>
                <a:cs typeface="Tahoma"/>
              </a:rPr>
              <a:t>age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54140"/>
                </a:solidFill>
                <a:latin typeface="Tahoma"/>
                <a:cs typeface="Tahoma"/>
              </a:rPr>
              <a:t>groups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purchase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frequency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2984" y="6202924"/>
            <a:ext cx="38163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80">
                <a:solidFill>
                  <a:srgbClr val="454140"/>
                </a:solidFill>
                <a:latin typeface="Cambria"/>
                <a:cs typeface="Cambria"/>
              </a:rPr>
              <a:t>05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85684" y="6682378"/>
            <a:ext cx="8010525" cy="38100"/>
          </a:xfrm>
          <a:custGeom>
            <a:avLst/>
            <a:gdLst/>
            <a:ahLst/>
            <a:cxnLst/>
            <a:rect l="l" t="t" r="r" b="b"/>
            <a:pathLst>
              <a:path w="8010525" h="38100">
                <a:moveTo>
                  <a:pt x="8009929" y="38099"/>
                </a:moveTo>
                <a:lnTo>
                  <a:pt x="0" y="38099"/>
                </a:lnTo>
                <a:lnTo>
                  <a:pt x="0" y="0"/>
                </a:lnTo>
                <a:lnTo>
                  <a:pt x="8009929" y="0"/>
                </a:lnTo>
                <a:lnTo>
                  <a:pt x="8009929" y="38099"/>
                </a:lnTo>
                <a:close/>
              </a:path>
            </a:pathLst>
          </a:custGeom>
          <a:solidFill>
            <a:srgbClr val="B88E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272984" y="6629116"/>
            <a:ext cx="4916805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20">
                <a:solidFill>
                  <a:srgbClr val="454140"/>
                </a:solidFill>
                <a:latin typeface="Cambria"/>
                <a:cs typeface="Cambria"/>
              </a:rPr>
              <a:t>Database</a:t>
            </a:r>
            <a:r>
              <a:rPr dirty="0" sz="2750" spc="19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10">
                <a:solidFill>
                  <a:srgbClr val="454140"/>
                </a:solidFill>
                <a:latin typeface="Cambria"/>
                <a:cs typeface="Cambria"/>
              </a:rPr>
              <a:t>Integration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135">
                <a:solidFill>
                  <a:srgbClr val="454140"/>
                </a:solidFill>
                <a:latin typeface="Tahoma"/>
                <a:cs typeface="Tahoma"/>
              </a:rPr>
              <a:t>Connected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54140"/>
                </a:solidFill>
                <a:latin typeface="Tahoma"/>
                <a:cs typeface="Tahoma"/>
              </a:rPr>
              <a:t>PostgreSQL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analysis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600"/>
              <a:t>Revenue</a:t>
            </a:r>
            <a:r>
              <a:rPr dirty="0" spc="380"/>
              <a:t> </a:t>
            </a:r>
            <a:r>
              <a:rPr dirty="0" spc="650"/>
              <a:t>by</a:t>
            </a:r>
            <a:r>
              <a:rPr dirty="0" spc="380"/>
              <a:t> </a:t>
            </a:r>
            <a:r>
              <a:rPr dirty="0" spc="675"/>
              <a:t>Gender</a:t>
            </a:r>
            <a:r>
              <a:rPr dirty="0" spc="380"/>
              <a:t> </a:t>
            </a:r>
            <a:r>
              <a:rPr dirty="0" spc="42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92238" y="3137592"/>
            <a:ext cx="9505950" cy="5323205"/>
            <a:chOff x="992238" y="3137592"/>
            <a:chExt cx="9505950" cy="53232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238" y="3137592"/>
              <a:ext cx="9505378" cy="50013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3203" y="8177059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260699" y="283559"/>
                  </a:moveTo>
                  <a:lnTo>
                    <a:pt x="22859" y="283559"/>
                  </a:lnTo>
                  <a:lnTo>
                    <a:pt x="13943" y="281768"/>
                  </a:lnTo>
                  <a:lnTo>
                    <a:pt x="6679" y="276879"/>
                  </a:lnTo>
                  <a:lnTo>
                    <a:pt x="1790" y="269615"/>
                  </a:lnTo>
                  <a:lnTo>
                    <a:pt x="0" y="260699"/>
                  </a:lnTo>
                  <a:lnTo>
                    <a:pt x="0" y="22859"/>
                  </a:lnTo>
                  <a:lnTo>
                    <a:pt x="1790" y="13943"/>
                  </a:lnTo>
                  <a:lnTo>
                    <a:pt x="6679" y="6679"/>
                  </a:lnTo>
                  <a:lnTo>
                    <a:pt x="13943" y="1790"/>
                  </a:lnTo>
                  <a:lnTo>
                    <a:pt x="22859" y="0"/>
                  </a:lnTo>
                  <a:lnTo>
                    <a:pt x="260699" y="0"/>
                  </a:lnTo>
                  <a:lnTo>
                    <a:pt x="269615" y="1790"/>
                  </a:lnTo>
                  <a:lnTo>
                    <a:pt x="276879" y="6679"/>
                  </a:lnTo>
                  <a:lnTo>
                    <a:pt x="281768" y="13943"/>
                  </a:lnTo>
                  <a:lnTo>
                    <a:pt x="283559" y="22859"/>
                  </a:lnTo>
                  <a:lnTo>
                    <a:pt x="283559" y="260699"/>
                  </a:lnTo>
                  <a:lnTo>
                    <a:pt x="281768" y="269615"/>
                  </a:lnTo>
                  <a:lnTo>
                    <a:pt x="276879" y="276879"/>
                  </a:lnTo>
                  <a:lnTo>
                    <a:pt x="269615" y="281768"/>
                  </a:lnTo>
                  <a:lnTo>
                    <a:pt x="260699" y="283559"/>
                  </a:lnTo>
                  <a:close/>
                </a:path>
              </a:pathLst>
            </a:custGeom>
            <a:solidFill>
              <a:srgbClr val="40320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020223" y="8133467"/>
            <a:ext cx="63055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Male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40167" y="8177059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5" h="283845">
                <a:moveTo>
                  <a:pt x="260699" y="283559"/>
                </a:moveTo>
                <a:lnTo>
                  <a:pt x="22859" y="283559"/>
                </a:lnTo>
                <a:lnTo>
                  <a:pt x="13943" y="281768"/>
                </a:lnTo>
                <a:lnTo>
                  <a:pt x="6679" y="276879"/>
                </a:lnTo>
                <a:lnTo>
                  <a:pt x="1790" y="269615"/>
                </a:lnTo>
                <a:lnTo>
                  <a:pt x="0" y="260699"/>
                </a:lnTo>
                <a:lnTo>
                  <a:pt x="0" y="22859"/>
                </a:lnTo>
                <a:lnTo>
                  <a:pt x="1790" y="13943"/>
                </a:lnTo>
                <a:lnTo>
                  <a:pt x="6679" y="6679"/>
                </a:lnTo>
                <a:lnTo>
                  <a:pt x="13943" y="1790"/>
                </a:lnTo>
                <a:lnTo>
                  <a:pt x="22859" y="0"/>
                </a:lnTo>
                <a:lnTo>
                  <a:pt x="260699" y="0"/>
                </a:lnTo>
                <a:lnTo>
                  <a:pt x="269615" y="1790"/>
                </a:lnTo>
                <a:lnTo>
                  <a:pt x="276879" y="6679"/>
                </a:lnTo>
                <a:lnTo>
                  <a:pt x="281768" y="13943"/>
                </a:lnTo>
                <a:lnTo>
                  <a:pt x="283559" y="22859"/>
                </a:lnTo>
                <a:lnTo>
                  <a:pt x="283559" y="260699"/>
                </a:lnTo>
                <a:lnTo>
                  <a:pt x="281768" y="269615"/>
                </a:lnTo>
                <a:lnTo>
                  <a:pt x="276879" y="276879"/>
                </a:lnTo>
                <a:lnTo>
                  <a:pt x="269615" y="281768"/>
                </a:lnTo>
                <a:lnTo>
                  <a:pt x="260699" y="283559"/>
                </a:lnTo>
                <a:close/>
              </a:path>
            </a:pathLst>
          </a:custGeom>
          <a:solidFill>
            <a:srgbClr val="CC9D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7179" y="8133467"/>
            <a:ext cx="950594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Female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98865" y="5054802"/>
            <a:ext cx="6106795" cy="1658620"/>
            <a:chOff x="11198865" y="5054802"/>
            <a:chExt cx="6106795" cy="1658620"/>
          </a:xfrm>
        </p:grpSpPr>
        <p:sp>
          <p:nvSpPr>
            <p:cNvPr id="10" name="object 10"/>
            <p:cNvSpPr/>
            <p:nvPr/>
          </p:nvSpPr>
          <p:spPr>
            <a:xfrm>
              <a:off x="11198865" y="5054802"/>
              <a:ext cx="6106795" cy="1658620"/>
            </a:xfrm>
            <a:custGeom>
              <a:avLst/>
              <a:gdLst/>
              <a:ahLst/>
              <a:cxnLst/>
              <a:rect l="l" t="t" r="r" b="b"/>
              <a:pathLst>
                <a:path w="6106794" h="1658620">
                  <a:moveTo>
                    <a:pt x="5987223" y="1658302"/>
                  </a:moveTo>
                  <a:lnTo>
                    <a:pt x="119062" y="1658302"/>
                  </a:lnTo>
                  <a:lnTo>
                    <a:pt x="72758" y="1648954"/>
                  </a:lnTo>
                  <a:lnTo>
                    <a:pt x="34902" y="1623452"/>
                  </a:lnTo>
                  <a:lnTo>
                    <a:pt x="9375" y="1585610"/>
                  </a:lnTo>
                  <a:lnTo>
                    <a:pt x="0" y="1539239"/>
                  </a:lnTo>
                  <a:lnTo>
                    <a:pt x="0" y="119062"/>
                  </a:lnTo>
                  <a:lnTo>
                    <a:pt x="9361" y="72732"/>
                  </a:lnTo>
                  <a:lnTo>
                    <a:pt x="34885" y="34885"/>
                  </a:lnTo>
                  <a:lnTo>
                    <a:pt x="72732" y="9361"/>
                  </a:lnTo>
                  <a:lnTo>
                    <a:pt x="119062" y="0"/>
                  </a:lnTo>
                  <a:lnTo>
                    <a:pt x="5987223" y="0"/>
                  </a:lnTo>
                  <a:lnTo>
                    <a:pt x="6033593" y="9361"/>
                  </a:lnTo>
                  <a:lnTo>
                    <a:pt x="6071436" y="34885"/>
                  </a:lnTo>
                  <a:lnTo>
                    <a:pt x="6096938" y="72732"/>
                  </a:lnTo>
                  <a:lnTo>
                    <a:pt x="6106286" y="119062"/>
                  </a:lnTo>
                  <a:lnTo>
                    <a:pt x="6106286" y="1539239"/>
                  </a:lnTo>
                  <a:lnTo>
                    <a:pt x="6096924" y="1585610"/>
                  </a:lnTo>
                  <a:lnTo>
                    <a:pt x="6071400" y="1623452"/>
                  </a:lnTo>
                  <a:lnTo>
                    <a:pt x="6033553" y="1648954"/>
                  </a:lnTo>
                  <a:lnTo>
                    <a:pt x="5987223" y="1658302"/>
                  </a:lnTo>
                  <a:close/>
                </a:path>
              </a:pathLst>
            </a:custGeom>
            <a:solidFill>
              <a:srgbClr val="F2E3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82386" y="5484913"/>
              <a:ext cx="354329" cy="28355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186166" y="3064935"/>
            <a:ext cx="6127115" cy="310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330">
                <a:solidFill>
                  <a:srgbClr val="5C4E3C"/>
                </a:solidFill>
                <a:latin typeface="Cambria"/>
                <a:cs typeface="Cambria"/>
              </a:rPr>
              <a:t>Key</a:t>
            </a:r>
            <a:r>
              <a:rPr dirty="0" sz="2750" spc="180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750" spc="210">
                <a:solidFill>
                  <a:srgbClr val="5C4E3C"/>
                </a:solidFill>
                <a:latin typeface="Cambria"/>
                <a:cs typeface="Cambria"/>
              </a:rPr>
              <a:t>Insight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1450"/>
              </a:spcBef>
            </a:pP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Female</a:t>
            </a:r>
            <a:r>
              <a:rPr dirty="0" sz="2150" spc="-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454140"/>
                </a:solidFill>
                <a:latin typeface="Tahoma"/>
                <a:cs typeface="Tahoma"/>
              </a:rPr>
              <a:t>customers</a:t>
            </a:r>
            <a:r>
              <a:rPr dirty="0" sz="2150" spc="-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generate</a:t>
            </a:r>
            <a:r>
              <a:rPr dirty="0" sz="2150" spc="-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454140"/>
                </a:solidFill>
                <a:latin typeface="Tahoma"/>
                <a:cs typeface="Tahoma"/>
              </a:rPr>
              <a:t>slightly</a:t>
            </a:r>
            <a:r>
              <a:rPr dirty="0" sz="2150" spc="-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higher</a:t>
            </a:r>
            <a:r>
              <a:rPr dirty="0" sz="2150" spc="-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total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revenue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than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54140"/>
                </a:solidFill>
                <a:latin typeface="Tahoma"/>
                <a:cs typeface="Tahoma"/>
              </a:rPr>
              <a:t>male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customers</a:t>
            </a:r>
            <a:endParaRPr sz="21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150">
              <a:latin typeface="Tahoma"/>
              <a:cs typeface="Tahoma"/>
            </a:endParaRPr>
          </a:p>
          <a:p>
            <a:pPr marL="934085" marR="575945">
              <a:lnSpc>
                <a:spcPct val="136600"/>
              </a:lnSpc>
            </a:pPr>
            <a:r>
              <a:rPr dirty="0" sz="2150" spc="135">
                <a:latin typeface="Tahoma"/>
                <a:cs typeface="Tahoma"/>
              </a:rPr>
              <a:t>Gender-</a:t>
            </a:r>
            <a:r>
              <a:rPr dirty="0" sz="2150" spc="120">
                <a:latin typeface="Tahoma"/>
                <a:cs typeface="Tahoma"/>
              </a:rPr>
              <a:t>based</a:t>
            </a:r>
            <a:r>
              <a:rPr dirty="0" sz="2150" spc="-70">
                <a:latin typeface="Tahoma"/>
                <a:cs typeface="Tahoma"/>
              </a:rPr>
              <a:t> </a:t>
            </a:r>
            <a:r>
              <a:rPr dirty="0" sz="2150" spc="55">
                <a:latin typeface="Tahoma"/>
                <a:cs typeface="Tahoma"/>
              </a:rPr>
              <a:t>marketing</a:t>
            </a:r>
            <a:r>
              <a:rPr dirty="0" sz="2150" spc="-65">
                <a:latin typeface="Tahoma"/>
                <a:cs typeface="Tahoma"/>
              </a:rPr>
              <a:t> </a:t>
            </a:r>
            <a:r>
              <a:rPr dirty="0" sz="2150" spc="65">
                <a:latin typeface="Tahoma"/>
                <a:cs typeface="Tahoma"/>
              </a:rPr>
              <a:t>strategies </a:t>
            </a:r>
            <a:r>
              <a:rPr dirty="0" sz="2150" spc="114">
                <a:latin typeface="Tahoma"/>
                <a:cs typeface="Tahoma"/>
              </a:rPr>
              <a:t>could</a:t>
            </a:r>
            <a:r>
              <a:rPr dirty="0" sz="2150" spc="-80">
                <a:latin typeface="Tahoma"/>
                <a:cs typeface="Tahoma"/>
              </a:rPr>
              <a:t> </a:t>
            </a:r>
            <a:r>
              <a:rPr dirty="0" sz="2150" spc="90">
                <a:latin typeface="Tahoma"/>
                <a:cs typeface="Tahoma"/>
              </a:rPr>
              <a:t>optimize</a:t>
            </a:r>
            <a:r>
              <a:rPr dirty="0" sz="2150" spc="-75">
                <a:latin typeface="Tahoma"/>
                <a:cs typeface="Tahoma"/>
              </a:rPr>
              <a:t> </a:t>
            </a:r>
            <a:r>
              <a:rPr dirty="0" sz="2150" spc="60">
                <a:latin typeface="Tahoma"/>
                <a:cs typeface="Tahoma"/>
              </a:rPr>
              <a:t>revenue</a:t>
            </a:r>
            <a:r>
              <a:rPr dirty="0" sz="2150" spc="-80">
                <a:latin typeface="Tahoma"/>
                <a:cs typeface="Tahoma"/>
              </a:rPr>
              <a:t> </a:t>
            </a:r>
            <a:r>
              <a:rPr dirty="0" sz="2150" spc="80">
                <a:latin typeface="Tahoma"/>
                <a:cs typeface="Tahoma"/>
              </a:rPr>
              <a:t>streams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37538" y="1804603"/>
            <a:ext cx="7665084" cy="17494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 spc="730"/>
              <a:t>High-</a:t>
            </a:r>
            <a:r>
              <a:rPr dirty="0" spc="545"/>
              <a:t>Value</a:t>
            </a:r>
            <a:r>
              <a:rPr dirty="0" spc="390"/>
              <a:t> </a:t>
            </a:r>
            <a:r>
              <a:rPr dirty="0" spc="540"/>
              <a:t>Discount </a:t>
            </a:r>
            <a:r>
              <a:rPr dirty="0" spc="430"/>
              <a:t>Users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835950" y="4819508"/>
            <a:ext cx="9474200" cy="1681480"/>
            <a:chOff x="7835950" y="4819508"/>
            <a:chExt cx="9474200" cy="1681480"/>
          </a:xfrm>
        </p:grpSpPr>
        <p:sp>
          <p:nvSpPr>
            <p:cNvPr id="5" name="object 5"/>
            <p:cNvSpPr/>
            <p:nvPr/>
          </p:nvSpPr>
          <p:spPr>
            <a:xfrm>
              <a:off x="7845475" y="4829022"/>
              <a:ext cx="9454515" cy="1662430"/>
            </a:xfrm>
            <a:custGeom>
              <a:avLst/>
              <a:gdLst/>
              <a:ahLst/>
              <a:cxnLst/>
              <a:rect l="l" t="t" r="r" b="b"/>
              <a:pathLst>
                <a:path w="9454515" h="1662429">
                  <a:moveTo>
                    <a:pt x="9335263" y="1662265"/>
                  </a:moveTo>
                  <a:lnTo>
                    <a:pt x="119729" y="1662265"/>
                  </a:lnTo>
                  <a:lnTo>
                    <a:pt x="73134" y="1652849"/>
                  </a:lnTo>
                  <a:lnTo>
                    <a:pt x="35075" y="1627203"/>
                  </a:lnTo>
                  <a:lnTo>
                    <a:pt x="9412" y="1589127"/>
                  </a:lnTo>
                  <a:lnTo>
                    <a:pt x="0" y="1542479"/>
                  </a:lnTo>
                  <a:lnTo>
                    <a:pt x="0" y="119729"/>
                  </a:lnTo>
                  <a:lnTo>
                    <a:pt x="9412" y="73134"/>
                  </a:lnTo>
                  <a:lnTo>
                    <a:pt x="35075" y="35075"/>
                  </a:lnTo>
                  <a:lnTo>
                    <a:pt x="73134" y="9411"/>
                  </a:lnTo>
                  <a:lnTo>
                    <a:pt x="119729" y="0"/>
                  </a:lnTo>
                  <a:lnTo>
                    <a:pt x="9335263" y="0"/>
                  </a:lnTo>
                  <a:lnTo>
                    <a:pt x="9381859" y="9411"/>
                  </a:lnTo>
                  <a:lnTo>
                    <a:pt x="9419917" y="35075"/>
                  </a:lnTo>
                  <a:lnTo>
                    <a:pt x="9445581" y="73134"/>
                  </a:lnTo>
                  <a:lnTo>
                    <a:pt x="9454132" y="115470"/>
                  </a:lnTo>
                  <a:lnTo>
                    <a:pt x="9454132" y="1546726"/>
                  </a:lnTo>
                  <a:lnTo>
                    <a:pt x="9445545" y="1589127"/>
                  </a:lnTo>
                  <a:lnTo>
                    <a:pt x="9419811" y="1627203"/>
                  </a:lnTo>
                  <a:lnTo>
                    <a:pt x="9381779" y="1652849"/>
                  </a:lnTo>
                  <a:lnTo>
                    <a:pt x="9381593" y="1652849"/>
                  </a:lnTo>
                  <a:lnTo>
                    <a:pt x="9335263" y="1662265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45475" y="4829033"/>
              <a:ext cx="9455150" cy="1662430"/>
            </a:xfrm>
            <a:custGeom>
              <a:avLst/>
              <a:gdLst/>
              <a:ahLst/>
              <a:cxnLst/>
              <a:rect l="l" t="t" r="r" b="b"/>
              <a:pathLst>
                <a:path w="9455150" h="1662429">
                  <a:moveTo>
                    <a:pt x="9335116" y="1662182"/>
                  </a:moveTo>
                  <a:lnTo>
                    <a:pt x="119727" y="1662181"/>
                  </a:lnTo>
                  <a:lnTo>
                    <a:pt x="73132" y="1652823"/>
                  </a:lnTo>
                  <a:lnTo>
                    <a:pt x="35075" y="1627177"/>
                  </a:lnTo>
                  <a:lnTo>
                    <a:pt x="9411" y="1589102"/>
                  </a:lnTo>
                  <a:lnTo>
                    <a:pt x="0" y="1542454"/>
                  </a:lnTo>
                  <a:lnTo>
                    <a:pt x="0" y="119727"/>
                  </a:lnTo>
                  <a:lnTo>
                    <a:pt x="9411" y="73132"/>
                  </a:lnTo>
                  <a:lnTo>
                    <a:pt x="35075" y="35075"/>
                  </a:lnTo>
                  <a:lnTo>
                    <a:pt x="73132" y="9411"/>
                  </a:lnTo>
                  <a:lnTo>
                    <a:pt x="119727" y="0"/>
                  </a:lnTo>
                  <a:lnTo>
                    <a:pt x="9335116" y="0"/>
                  </a:lnTo>
                  <a:lnTo>
                    <a:pt x="9381710" y="9411"/>
                  </a:lnTo>
                  <a:lnTo>
                    <a:pt x="9419769" y="35074"/>
                  </a:lnTo>
                  <a:lnTo>
                    <a:pt x="9445432" y="73132"/>
                  </a:lnTo>
                  <a:lnTo>
                    <a:pt x="9454844" y="119727"/>
                  </a:lnTo>
                  <a:lnTo>
                    <a:pt x="9454844" y="1542454"/>
                  </a:lnTo>
                  <a:lnTo>
                    <a:pt x="9445432" y="1589049"/>
                  </a:lnTo>
                  <a:lnTo>
                    <a:pt x="9419768" y="1627107"/>
                  </a:lnTo>
                  <a:lnTo>
                    <a:pt x="9381710" y="1652823"/>
                  </a:lnTo>
                </a:path>
              </a:pathLst>
            </a:custGeom>
            <a:ln w="19049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7835950" y="6755769"/>
            <a:ext cx="9474200" cy="1681480"/>
            <a:chOff x="7835950" y="6755769"/>
            <a:chExt cx="9474200" cy="1681480"/>
          </a:xfrm>
        </p:grpSpPr>
        <p:sp>
          <p:nvSpPr>
            <p:cNvPr id="8" name="object 8"/>
            <p:cNvSpPr/>
            <p:nvPr/>
          </p:nvSpPr>
          <p:spPr>
            <a:xfrm>
              <a:off x="7845475" y="6765283"/>
              <a:ext cx="9454515" cy="1662430"/>
            </a:xfrm>
            <a:custGeom>
              <a:avLst/>
              <a:gdLst/>
              <a:ahLst/>
              <a:cxnLst/>
              <a:rect l="l" t="t" r="r" b="b"/>
              <a:pathLst>
                <a:path w="9454515" h="1662429">
                  <a:moveTo>
                    <a:pt x="9335263" y="1662265"/>
                  </a:moveTo>
                  <a:lnTo>
                    <a:pt x="119729" y="1662265"/>
                  </a:lnTo>
                  <a:lnTo>
                    <a:pt x="73134" y="1652849"/>
                  </a:lnTo>
                  <a:lnTo>
                    <a:pt x="35075" y="1627203"/>
                  </a:lnTo>
                  <a:lnTo>
                    <a:pt x="9412" y="1589127"/>
                  </a:lnTo>
                  <a:lnTo>
                    <a:pt x="0" y="1542478"/>
                  </a:lnTo>
                  <a:lnTo>
                    <a:pt x="0" y="119729"/>
                  </a:lnTo>
                  <a:lnTo>
                    <a:pt x="9412" y="73134"/>
                  </a:lnTo>
                  <a:lnTo>
                    <a:pt x="35075" y="35075"/>
                  </a:lnTo>
                  <a:lnTo>
                    <a:pt x="73134" y="9412"/>
                  </a:lnTo>
                  <a:lnTo>
                    <a:pt x="119729" y="0"/>
                  </a:lnTo>
                  <a:lnTo>
                    <a:pt x="9335263" y="0"/>
                  </a:lnTo>
                  <a:lnTo>
                    <a:pt x="9381859" y="9412"/>
                  </a:lnTo>
                  <a:lnTo>
                    <a:pt x="9419917" y="35075"/>
                  </a:lnTo>
                  <a:lnTo>
                    <a:pt x="9445581" y="73134"/>
                  </a:lnTo>
                  <a:lnTo>
                    <a:pt x="9454132" y="115470"/>
                  </a:lnTo>
                  <a:lnTo>
                    <a:pt x="9454132" y="1546726"/>
                  </a:lnTo>
                  <a:lnTo>
                    <a:pt x="9445545" y="1589127"/>
                  </a:lnTo>
                  <a:lnTo>
                    <a:pt x="9419811" y="1627203"/>
                  </a:lnTo>
                  <a:lnTo>
                    <a:pt x="9381779" y="1652849"/>
                  </a:lnTo>
                  <a:lnTo>
                    <a:pt x="9381593" y="1652849"/>
                  </a:lnTo>
                  <a:lnTo>
                    <a:pt x="9335263" y="1662265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845475" y="6765294"/>
              <a:ext cx="9455150" cy="1662430"/>
            </a:xfrm>
            <a:custGeom>
              <a:avLst/>
              <a:gdLst/>
              <a:ahLst/>
              <a:cxnLst/>
              <a:rect l="l" t="t" r="r" b="b"/>
              <a:pathLst>
                <a:path w="9455150" h="1662429">
                  <a:moveTo>
                    <a:pt x="9335116" y="1662181"/>
                  </a:moveTo>
                  <a:lnTo>
                    <a:pt x="119727" y="1662181"/>
                  </a:lnTo>
                  <a:lnTo>
                    <a:pt x="73132" y="1652823"/>
                  </a:lnTo>
                  <a:lnTo>
                    <a:pt x="35075" y="1627177"/>
                  </a:lnTo>
                  <a:lnTo>
                    <a:pt x="9411" y="1589101"/>
                  </a:lnTo>
                  <a:lnTo>
                    <a:pt x="0" y="1542454"/>
                  </a:lnTo>
                  <a:lnTo>
                    <a:pt x="0" y="119727"/>
                  </a:lnTo>
                  <a:lnTo>
                    <a:pt x="9411" y="73132"/>
                  </a:lnTo>
                  <a:lnTo>
                    <a:pt x="35075" y="35075"/>
                  </a:lnTo>
                  <a:lnTo>
                    <a:pt x="73132" y="9411"/>
                  </a:lnTo>
                  <a:lnTo>
                    <a:pt x="119727" y="0"/>
                  </a:lnTo>
                  <a:lnTo>
                    <a:pt x="9335116" y="0"/>
                  </a:lnTo>
                  <a:lnTo>
                    <a:pt x="9381710" y="9411"/>
                  </a:lnTo>
                  <a:lnTo>
                    <a:pt x="9419768" y="35074"/>
                  </a:lnTo>
                  <a:lnTo>
                    <a:pt x="9445432" y="73132"/>
                  </a:lnTo>
                  <a:lnTo>
                    <a:pt x="9454844" y="119727"/>
                  </a:lnTo>
                  <a:lnTo>
                    <a:pt x="9454844" y="1542454"/>
                  </a:lnTo>
                  <a:lnTo>
                    <a:pt x="9445432" y="1589049"/>
                  </a:lnTo>
                  <a:lnTo>
                    <a:pt x="9419768" y="1627106"/>
                  </a:lnTo>
                  <a:lnTo>
                    <a:pt x="9381710" y="1652823"/>
                  </a:lnTo>
                </a:path>
              </a:pathLst>
            </a:custGeom>
            <a:ln w="19049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114"/>
              <a:t>Customers</a:t>
            </a:r>
            <a:r>
              <a:rPr dirty="0" spc="-10"/>
              <a:t> </a:t>
            </a:r>
            <a:r>
              <a:rPr dirty="0"/>
              <a:t>using</a:t>
            </a:r>
            <a:r>
              <a:rPr dirty="0" spc="-5"/>
              <a:t> </a:t>
            </a:r>
            <a:r>
              <a:rPr dirty="0" spc="110"/>
              <a:t>discounts</a:t>
            </a:r>
            <a:r>
              <a:rPr dirty="0" spc="-5"/>
              <a:t> </a:t>
            </a:r>
            <a:r>
              <a:rPr dirty="0"/>
              <a:t>while</a:t>
            </a:r>
            <a:r>
              <a:rPr dirty="0" spc="-10"/>
              <a:t> </a:t>
            </a:r>
            <a:r>
              <a:rPr dirty="0" spc="85"/>
              <a:t>spending</a:t>
            </a:r>
            <a:r>
              <a:rPr dirty="0" spc="-5"/>
              <a:t> </a:t>
            </a:r>
            <a:r>
              <a:rPr dirty="0" spc="95"/>
              <a:t>above</a:t>
            </a:r>
            <a:r>
              <a:rPr dirty="0" spc="-5"/>
              <a:t> </a:t>
            </a:r>
            <a:r>
              <a:rPr dirty="0" spc="40"/>
              <a:t>average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645"/>
              </a:spcBef>
            </a:pPr>
          </a:p>
          <a:p>
            <a:pPr marL="305435">
              <a:lnSpc>
                <a:spcPct val="100000"/>
              </a:lnSpc>
            </a:pPr>
            <a:r>
              <a:rPr dirty="0" sz="2750" spc="295">
                <a:latin typeface="Cambria"/>
                <a:cs typeface="Cambria"/>
              </a:rPr>
              <a:t>Smart</a:t>
            </a:r>
            <a:r>
              <a:rPr dirty="0" sz="2750" spc="185">
                <a:latin typeface="Cambria"/>
                <a:cs typeface="Cambria"/>
              </a:rPr>
              <a:t> </a:t>
            </a:r>
            <a:r>
              <a:rPr dirty="0" sz="2750" spc="265">
                <a:latin typeface="Cambria"/>
                <a:cs typeface="Cambria"/>
              </a:rPr>
              <a:t>Shoppers</a:t>
            </a:r>
            <a:endParaRPr sz="2750">
              <a:latin typeface="Cambria"/>
              <a:cs typeface="Cambria"/>
            </a:endParaRPr>
          </a:p>
          <a:p>
            <a:pPr marL="305435">
              <a:lnSpc>
                <a:spcPct val="100000"/>
              </a:lnSpc>
              <a:spcBef>
                <a:spcPts val="1505"/>
              </a:spcBef>
            </a:pPr>
            <a:r>
              <a:rPr dirty="0"/>
              <a:t>High</a:t>
            </a:r>
            <a:r>
              <a:rPr dirty="0" spc="-35"/>
              <a:t> </a:t>
            </a:r>
            <a:r>
              <a:rPr dirty="0" spc="105"/>
              <a:t>spenders</a:t>
            </a:r>
            <a:r>
              <a:rPr dirty="0" spc="-30"/>
              <a:t> </a:t>
            </a:r>
            <a:r>
              <a:rPr dirty="0" spc="70"/>
              <a:t>who</a:t>
            </a:r>
            <a:r>
              <a:rPr dirty="0" spc="-35"/>
              <a:t> </a:t>
            </a:r>
            <a:r>
              <a:rPr dirty="0" spc="65"/>
              <a:t>maximize</a:t>
            </a:r>
            <a:r>
              <a:rPr dirty="0" spc="-30"/>
              <a:t> </a:t>
            </a:r>
            <a:r>
              <a:rPr dirty="0"/>
              <a:t>value</a:t>
            </a:r>
            <a:r>
              <a:rPr dirty="0" spc="-35"/>
              <a:t> </a:t>
            </a:r>
            <a:r>
              <a:rPr dirty="0" spc="55"/>
              <a:t>with</a:t>
            </a:r>
            <a:r>
              <a:rPr dirty="0" spc="-30"/>
              <a:t> </a:t>
            </a:r>
            <a:r>
              <a:rPr dirty="0" spc="100"/>
              <a:t>discounts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75"/>
              </a:spcBef>
            </a:pPr>
          </a:p>
          <a:p>
            <a:pPr marL="305435">
              <a:lnSpc>
                <a:spcPct val="100000"/>
              </a:lnSpc>
            </a:pPr>
            <a:r>
              <a:rPr dirty="0" sz="2750" spc="204">
                <a:latin typeface="Cambria"/>
                <a:cs typeface="Cambria"/>
              </a:rPr>
              <a:t>Strategic</a:t>
            </a:r>
            <a:r>
              <a:rPr dirty="0" sz="2750" spc="190">
                <a:latin typeface="Cambria"/>
                <a:cs typeface="Cambria"/>
              </a:rPr>
              <a:t> </a:t>
            </a:r>
            <a:r>
              <a:rPr dirty="0" sz="2750" spc="290">
                <a:latin typeface="Cambria"/>
                <a:cs typeface="Cambria"/>
              </a:rPr>
              <a:t>Opportunity</a:t>
            </a:r>
            <a:endParaRPr sz="2750">
              <a:latin typeface="Cambria"/>
              <a:cs typeface="Cambria"/>
            </a:endParaRPr>
          </a:p>
          <a:p>
            <a:pPr marL="305435">
              <a:lnSpc>
                <a:spcPct val="100000"/>
              </a:lnSpc>
              <a:spcBef>
                <a:spcPts val="1505"/>
              </a:spcBef>
            </a:pPr>
            <a:r>
              <a:rPr dirty="0"/>
              <a:t>Target</a:t>
            </a:r>
            <a:r>
              <a:rPr dirty="0" spc="-35"/>
              <a:t> </a:t>
            </a:r>
            <a:r>
              <a:rPr dirty="0" spc="90"/>
              <a:t>premium</a:t>
            </a:r>
            <a:r>
              <a:rPr dirty="0" spc="-35"/>
              <a:t> </a:t>
            </a:r>
            <a:r>
              <a:rPr dirty="0" spc="110"/>
              <a:t>customers</a:t>
            </a:r>
            <a:r>
              <a:rPr dirty="0" spc="-30"/>
              <a:t> </a:t>
            </a:r>
            <a:r>
              <a:rPr dirty="0" spc="55"/>
              <a:t>with</a:t>
            </a:r>
            <a:r>
              <a:rPr dirty="0" spc="-35"/>
              <a:t> </a:t>
            </a:r>
            <a:r>
              <a:rPr dirty="0" spc="75"/>
              <a:t>exclusive</a:t>
            </a:r>
            <a:r>
              <a:rPr dirty="0" spc="-30"/>
              <a:t> </a:t>
            </a:r>
            <a:r>
              <a:rPr dirty="0" spc="55"/>
              <a:t>offers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35440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9538" y="5309955"/>
            <a:ext cx="7360920" cy="873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805">
                <a:solidFill>
                  <a:srgbClr val="5C4E3C"/>
                </a:solidFill>
                <a:latin typeface="Cambria"/>
                <a:cs typeface="Cambria"/>
              </a:rPr>
              <a:t>Top-</a:t>
            </a:r>
            <a:r>
              <a:rPr dirty="0" sz="5550" spc="525">
                <a:solidFill>
                  <a:srgbClr val="5C4E3C"/>
                </a:solidFill>
                <a:latin typeface="Cambria"/>
                <a:cs typeface="Cambria"/>
              </a:rPr>
              <a:t>Rated</a:t>
            </a:r>
            <a:r>
              <a:rPr dirty="0" sz="5550" spc="375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5550" spc="465">
                <a:solidFill>
                  <a:srgbClr val="5C4E3C"/>
                </a:solidFill>
                <a:latin typeface="Cambria"/>
                <a:cs typeface="Cambria"/>
              </a:rPr>
              <a:t>Products</a:t>
            </a:r>
            <a:endParaRPr sz="55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2238" y="6680596"/>
            <a:ext cx="478345" cy="4251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1411" y="6680596"/>
            <a:ext cx="478345" cy="4251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0584" y="6680596"/>
            <a:ext cx="478345" cy="4251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9767" y="6680596"/>
            <a:ext cx="478345" cy="42519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8941" y="6680596"/>
            <a:ext cx="478345" cy="4251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67099" y="6722576"/>
            <a:ext cx="224154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50">
                <a:solidFill>
                  <a:srgbClr val="454140"/>
                </a:solidFill>
                <a:latin typeface="Cambria"/>
                <a:cs typeface="Cambria"/>
              </a:rPr>
              <a:t>5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9538" y="7123814"/>
            <a:ext cx="3879850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29">
                <a:solidFill>
                  <a:srgbClr val="454140"/>
                </a:solidFill>
                <a:latin typeface="Cambria"/>
                <a:cs typeface="Cambria"/>
              </a:rPr>
              <a:t>Blouse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Highest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454140"/>
                </a:solidFill>
                <a:latin typeface="Tahoma"/>
                <a:cs typeface="Tahoma"/>
              </a:rPr>
              <a:t>customer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satisfaction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4865" y="6680596"/>
            <a:ext cx="478345" cy="42519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4039" y="6680596"/>
            <a:ext cx="478345" cy="42519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3221" y="6680596"/>
            <a:ext cx="478345" cy="42519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2395" y="6680596"/>
            <a:ext cx="478345" cy="42519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568" y="6680596"/>
            <a:ext cx="478345" cy="42519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419726" y="6722576"/>
            <a:ext cx="224154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50">
                <a:solidFill>
                  <a:srgbClr val="454140"/>
                </a:solidFill>
                <a:latin typeface="Cambria"/>
                <a:cs typeface="Cambria"/>
              </a:rPr>
              <a:t>5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32165" y="7123814"/>
            <a:ext cx="3924300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04">
                <a:solidFill>
                  <a:srgbClr val="454140"/>
                </a:solidFill>
                <a:latin typeface="Cambria"/>
                <a:cs typeface="Cambria"/>
              </a:rPr>
              <a:t>Dress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Consistently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excellent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454140"/>
                </a:solidFill>
                <a:latin typeface="Tahoma"/>
                <a:cs typeface="Tahoma"/>
              </a:rPr>
              <a:t>reviews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7492" y="6680596"/>
            <a:ext cx="478345" cy="42519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6666" y="6680596"/>
            <a:ext cx="478345" cy="42519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95848" y="6680596"/>
            <a:ext cx="478345" cy="42519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45023" y="6680596"/>
            <a:ext cx="478345" cy="42519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94195" y="6680596"/>
            <a:ext cx="478345" cy="42519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4972354" y="6722576"/>
            <a:ext cx="22987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5">
                <a:solidFill>
                  <a:srgbClr val="454140"/>
                </a:solidFill>
                <a:latin typeface="Cambria"/>
                <a:cs typeface="Cambria"/>
              </a:rPr>
              <a:t>4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084792" y="7123814"/>
            <a:ext cx="3374390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29">
                <a:solidFill>
                  <a:srgbClr val="454140"/>
                </a:solidFill>
                <a:latin typeface="Cambria"/>
                <a:cs typeface="Cambria"/>
              </a:rPr>
              <a:t>Shirt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55">
                <a:solidFill>
                  <a:srgbClr val="454140"/>
                </a:solidFill>
                <a:latin typeface="Tahoma"/>
                <a:cs typeface="Tahoma"/>
              </a:rPr>
              <a:t>Strong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454140"/>
                </a:solidFill>
                <a:latin typeface="Tahoma"/>
                <a:cs typeface="Tahoma"/>
              </a:rPr>
              <a:t>customer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approval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79538" y="1712029"/>
            <a:ext cx="7775575" cy="17494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 spc="605"/>
              <a:t>Shipping</a:t>
            </a:r>
            <a:r>
              <a:rPr dirty="0" spc="405"/>
              <a:t> </a:t>
            </a:r>
            <a:r>
              <a:rPr dirty="0" spc="450"/>
              <a:t>Preferences </a:t>
            </a:r>
            <a:r>
              <a:rPr dirty="0" spc="585"/>
              <a:t>Impact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538" y="4154652"/>
            <a:ext cx="3140075" cy="244411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750" spc="220">
                <a:solidFill>
                  <a:srgbClr val="5C4E3C"/>
                </a:solidFill>
                <a:latin typeface="Cambria"/>
                <a:cs typeface="Cambria"/>
              </a:rPr>
              <a:t>Express</a:t>
            </a:r>
            <a:r>
              <a:rPr dirty="0" sz="2750" spc="200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750" spc="285">
                <a:solidFill>
                  <a:srgbClr val="5C4E3C"/>
                </a:solidFill>
                <a:latin typeface="Cambria"/>
                <a:cs typeface="Cambria"/>
              </a:rPr>
              <a:t>Shipping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11100" spc="770">
                <a:solidFill>
                  <a:srgbClr val="5C4E3C"/>
                </a:solidFill>
                <a:latin typeface="Cambria"/>
                <a:cs typeface="Cambria"/>
              </a:rPr>
              <a:t>$65</a:t>
            </a:r>
            <a:endParaRPr sz="1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538" y="6989032"/>
            <a:ext cx="340931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Average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purchase</a:t>
            </a:r>
            <a:r>
              <a:rPr dirty="0" sz="215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amount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7696" y="4154652"/>
            <a:ext cx="3375660" cy="244411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750" spc="245">
                <a:solidFill>
                  <a:srgbClr val="5C4E3C"/>
                </a:solidFill>
                <a:latin typeface="Cambria"/>
                <a:cs typeface="Cambria"/>
              </a:rPr>
              <a:t>Standard</a:t>
            </a:r>
            <a:r>
              <a:rPr dirty="0" sz="2750" spc="215">
                <a:solidFill>
                  <a:srgbClr val="5C4E3C"/>
                </a:solidFill>
                <a:latin typeface="Cambria"/>
                <a:cs typeface="Cambria"/>
              </a:rPr>
              <a:t> </a:t>
            </a:r>
            <a:r>
              <a:rPr dirty="0" sz="2750" spc="285">
                <a:solidFill>
                  <a:srgbClr val="5C4E3C"/>
                </a:solidFill>
                <a:latin typeface="Cambria"/>
                <a:cs typeface="Cambria"/>
              </a:rPr>
              <a:t>Shipping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11100" spc="625">
                <a:solidFill>
                  <a:srgbClr val="5C4E3C"/>
                </a:solidFill>
                <a:latin typeface="Cambria"/>
                <a:cs typeface="Cambria"/>
              </a:rPr>
              <a:t>$58</a:t>
            </a:r>
            <a:endParaRPr sz="1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57696" y="6989032"/>
            <a:ext cx="340931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Average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purchase</a:t>
            </a:r>
            <a:r>
              <a:rPr dirty="0" sz="215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amount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9538" y="8016693"/>
            <a:ext cx="784098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80">
                <a:solidFill>
                  <a:srgbClr val="454140"/>
                </a:solidFill>
                <a:latin typeface="Tahoma"/>
                <a:cs typeface="Tahoma"/>
              </a:rPr>
              <a:t>Express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shipping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454140"/>
                </a:solidFill>
                <a:latin typeface="Tahoma"/>
                <a:cs typeface="Tahoma"/>
              </a:rPr>
              <a:t>customers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20">
                <a:solidFill>
                  <a:srgbClr val="454140"/>
                </a:solidFill>
                <a:latin typeface="Tahoma"/>
                <a:cs typeface="Tahoma"/>
              </a:rPr>
              <a:t>spend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-295">
                <a:solidFill>
                  <a:srgbClr val="454140"/>
                </a:solidFill>
                <a:latin typeface="Tahoma"/>
                <a:cs typeface="Tahoma"/>
              </a:rPr>
              <a:t>12%</a:t>
            </a:r>
            <a:r>
              <a:rPr dirty="0" sz="2150" spc="-8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54140"/>
                </a:solidFill>
                <a:latin typeface="Tahoma"/>
                <a:cs typeface="Tahoma"/>
              </a:rPr>
              <a:t>more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per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transaction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495"/>
              <a:t>Subscription</a:t>
            </a:r>
            <a:r>
              <a:rPr dirty="0" spc="400"/>
              <a:t> </a:t>
            </a:r>
            <a:r>
              <a:rPr dirty="0" spc="585"/>
              <a:t>Impact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00315" y="4782610"/>
            <a:ext cx="1381760" cy="873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-125">
                <a:solidFill>
                  <a:srgbClr val="454140"/>
                </a:solidFill>
                <a:latin typeface="Cambria"/>
                <a:cs typeface="Cambria"/>
              </a:rPr>
              <a:t>68%</a:t>
            </a:r>
            <a:endParaRPr sz="55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916" y="3068392"/>
            <a:ext cx="4252912" cy="42529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1541" y="7404508"/>
            <a:ext cx="4119879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39"/>
              </a:spcBef>
            </a:pPr>
            <a:r>
              <a:rPr dirty="0" sz="2750" spc="305">
                <a:solidFill>
                  <a:srgbClr val="454140"/>
                </a:solidFill>
                <a:latin typeface="Cambria"/>
                <a:cs typeface="Cambria"/>
              </a:rPr>
              <a:t>Higher</a:t>
            </a:r>
            <a:r>
              <a:rPr dirty="0" sz="2750" spc="18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305">
                <a:solidFill>
                  <a:srgbClr val="454140"/>
                </a:solidFill>
                <a:latin typeface="Cambria"/>
                <a:cs typeface="Cambria"/>
              </a:rPr>
              <a:t>Spend</a:t>
            </a:r>
            <a:endParaRPr sz="2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Subscribers</a:t>
            </a:r>
            <a:r>
              <a:rPr dirty="0" sz="215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vs</a:t>
            </a:r>
            <a:r>
              <a:rPr dirty="0" sz="2150" spc="-7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35">
                <a:solidFill>
                  <a:srgbClr val="454140"/>
                </a:solidFill>
                <a:latin typeface="Tahoma"/>
                <a:cs typeface="Tahoma"/>
              </a:rPr>
              <a:t>non-</a:t>
            </a:r>
            <a:r>
              <a:rPr dirty="0" sz="2150" spc="90">
                <a:solidFill>
                  <a:srgbClr val="454140"/>
                </a:solidFill>
                <a:latin typeface="Tahoma"/>
                <a:cs typeface="Tahoma"/>
              </a:rPr>
              <a:t>subscribers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6874" y="4782610"/>
            <a:ext cx="1313815" cy="873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-370">
                <a:solidFill>
                  <a:srgbClr val="454140"/>
                </a:solidFill>
                <a:latin typeface="Cambria"/>
                <a:cs typeface="Cambria"/>
              </a:rPr>
              <a:t>45%</a:t>
            </a:r>
            <a:endParaRPr sz="555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7543" y="3068392"/>
            <a:ext cx="4252912" cy="42529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235527" y="7404508"/>
            <a:ext cx="3816985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39"/>
              </a:spcBef>
            </a:pPr>
            <a:r>
              <a:rPr dirty="0" sz="2750" spc="290">
                <a:solidFill>
                  <a:srgbClr val="454140"/>
                </a:solidFill>
                <a:latin typeface="Cambria"/>
                <a:cs typeface="Cambria"/>
              </a:rPr>
              <a:t>Revenue</a:t>
            </a:r>
            <a:r>
              <a:rPr dirty="0" sz="2750" spc="195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45">
                <a:solidFill>
                  <a:srgbClr val="454140"/>
                </a:solidFill>
                <a:latin typeface="Cambria"/>
                <a:cs typeface="Cambria"/>
              </a:rPr>
              <a:t>Share</a:t>
            </a:r>
            <a:endParaRPr sz="2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From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subscription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customers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55427" y="4782610"/>
            <a:ext cx="1282065" cy="873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-450">
                <a:solidFill>
                  <a:srgbClr val="454140"/>
                </a:solidFill>
                <a:latin typeface="Cambria"/>
                <a:cs typeface="Cambria"/>
              </a:rPr>
              <a:t>78%</a:t>
            </a:r>
            <a:endParaRPr sz="555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70170" y="3068392"/>
            <a:ext cx="4252912" cy="425291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97542" y="7404508"/>
            <a:ext cx="3598545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39"/>
              </a:spcBef>
            </a:pPr>
            <a:r>
              <a:rPr dirty="0" sz="2750" spc="275">
                <a:solidFill>
                  <a:srgbClr val="454140"/>
                </a:solidFill>
                <a:latin typeface="Cambria"/>
                <a:cs typeface="Cambria"/>
              </a:rPr>
              <a:t>Loyalty</a:t>
            </a:r>
            <a:r>
              <a:rPr dirty="0" sz="2750" spc="21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2750" spc="215">
                <a:solidFill>
                  <a:srgbClr val="454140"/>
                </a:solidFill>
                <a:latin typeface="Cambria"/>
                <a:cs typeface="Cambria"/>
              </a:rPr>
              <a:t>Rate</a:t>
            </a:r>
            <a:endParaRPr sz="2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Repeat</a:t>
            </a:r>
            <a:r>
              <a:rPr dirty="0" sz="2150" spc="-6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purchase</a:t>
            </a:r>
            <a:r>
              <a:rPr dirty="0" sz="2150" spc="-6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frequency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635"/>
              <a:t>Customer</a:t>
            </a:r>
            <a:r>
              <a:rPr dirty="0" spc="375"/>
              <a:t> </a:t>
            </a:r>
            <a:r>
              <a:rPr dirty="0" spc="560"/>
              <a:t>Segmentation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2932" y="2962275"/>
            <a:ext cx="2690050" cy="16337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6645" y="3681577"/>
            <a:ext cx="20256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380">
                <a:solidFill>
                  <a:srgbClr val="454140"/>
                </a:solidFill>
                <a:latin typeface="Cambria"/>
                <a:cs typeface="Cambria"/>
              </a:rPr>
              <a:t>1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3823" y="2974639"/>
            <a:ext cx="3545840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85">
                <a:solidFill>
                  <a:srgbClr val="454140"/>
                </a:solidFill>
                <a:latin typeface="Cambria"/>
                <a:cs typeface="Cambria"/>
              </a:rPr>
              <a:t>Loyal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-265">
                <a:solidFill>
                  <a:srgbClr val="454140"/>
                </a:solidFill>
                <a:latin typeface="Tahoma"/>
                <a:cs typeface="Tahoma"/>
              </a:rPr>
              <a:t>15%</a:t>
            </a:r>
            <a:r>
              <a:rPr dirty="0" sz="2150" spc="-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340">
                <a:solidFill>
                  <a:srgbClr val="454140"/>
                </a:solidFill>
                <a:latin typeface="Tahoma"/>
                <a:cs typeface="Tahoma"/>
              </a:rPr>
              <a:t>-</a:t>
            </a:r>
            <a:r>
              <a:rPr dirty="0" sz="2150" spc="-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High</a:t>
            </a:r>
            <a:r>
              <a:rPr dirty="0" sz="2150" spc="-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value</a:t>
            </a:r>
            <a:r>
              <a:rPr dirty="0" sz="2150" spc="-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54140"/>
                </a:solidFill>
                <a:latin typeface="Tahoma"/>
                <a:cs typeface="Tahoma"/>
              </a:rPr>
              <a:t>customers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77973" y="4612328"/>
            <a:ext cx="14846935" cy="1688464"/>
            <a:chOff x="2377973" y="4612328"/>
            <a:chExt cx="14846935" cy="1688464"/>
          </a:xfrm>
        </p:grpSpPr>
        <p:sp>
          <p:nvSpPr>
            <p:cNvPr id="7" name="object 7"/>
            <p:cNvSpPr/>
            <p:nvPr/>
          </p:nvSpPr>
          <p:spPr>
            <a:xfrm>
              <a:off x="6483848" y="4612328"/>
              <a:ext cx="10741660" cy="19050"/>
            </a:xfrm>
            <a:custGeom>
              <a:avLst/>
              <a:gdLst/>
              <a:ahLst/>
              <a:cxnLst/>
              <a:rect l="l" t="t" r="r" b="b"/>
              <a:pathLst>
                <a:path w="10741660" h="19050">
                  <a:moveTo>
                    <a:pt x="10736771" y="19050"/>
                  </a:moveTo>
                  <a:lnTo>
                    <a:pt x="4286" y="19050"/>
                  </a:lnTo>
                  <a:lnTo>
                    <a:pt x="0" y="14763"/>
                  </a:lnTo>
                  <a:lnTo>
                    <a:pt x="0" y="4286"/>
                  </a:lnTo>
                  <a:lnTo>
                    <a:pt x="4286" y="0"/>
                  </a:lnTo>
                  <a:lnTo>
                    <a:pt x="10736771" y="0"/>
                  </a:lnTo>
                  <a:lnTo>
                    <a:pt x="10741057" y="4286"/>
                  </a:lnTo>
                  <a:lnTo>
                    <a:pt x="10741057" y="14763"/>
                  </a:lnTo>
                  <a:lnTo>
                    <a:pt x="10736771" y="19050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7973" y="4666802"/>
              <a:ext cx="5379689" cy="16336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932861" y="5183698"/>
            <a:ext cx="26987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155">
                <a:solidFill>
                  <a:srgbClr val="454140"/>
                </a:solidFill>
                <a:latin typeface="Cambria"/>
                <a:cs typeface="Cambria"/>
              </a:rPr>
              <a:t>2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8933" y="4679167"/>
            <a:ext cx="3093085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250">
                <a:solidFill>
                  <a:srgbClr val="454140"/>
                </a:solidFill>
                <a:latin typeface="Cambria"/>
                <a:cs typeface="Cambria"/>
              </a:rPr>
              <a:t>Returning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-50">
                <a:solidFill>
                  <a:srgbClr val="454140"/>
                </a:solidFill>
                <a:latin typeface="Tahoma"/>
                <a:cs typeface="Tahoma"/>
              </a:rPr>
              <a:t>35%</a:t>
            </a:r>
            <a:r>
              <a:rPr dirty="0" sz="215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340">
                <a:solidFill>
                  <a:srgbClr val="454140"/>
                </a:solidFill>
                <a:latin typeface="Tahoma"/>
                <a:cs typeface="Tahoma"/>
              </a:rPr>
              <a:t>-</a:t>
            </a:r>
            <a:r>
              <a:rPr dirty="0" sz="2150" spc="-5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Regular</a:t>
            </a:r>
            <a:r>
              <a:rPr dirty="0" sz="2150" spc="-5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shoppers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32872" y="6316865"/>
            <a:ext cx="16192500" cy="1688464"/>
            <a:chOff x="1032872" y="6316865"/>
            <a:chExt cx="16192500" cy="1688464"/>
          </a:xfrm>
        </p:grpSpPr>
        <p:sp>
          <p:nvSpPr>
            <p:cNvPr id="12" name="object 12"/>
            <p:cNvSpPr/>
            <p:nvPr/>
          </p:nvSpPr>
          <p:spPr>
            <a:xfrm>
              <a:off x="7828959" y="6316865"/>
              <a:ext cx="9396095" cy="19050"/>
            </a:xfrm>
            <a:custGeom>
              <a:avLst/>
              <a:gdLst/>
              <a:ahLst/>
              <a:cxnLst/>
              <a:rect l="l" t="t" r="r" b="b"/>
              <a:pathLst>
                <a:path w="9396094" h="19050">
                  <a:moveTo>
                    <a:pt x="9391650" y="19050"/>
                  </a:moveTo>
                  <a:lnTo>
                    <a:pt x="4286" y="19050"/>
                  </a:lnTo>
                  <a:lnTo>
                    <a:pt x="0" y="14763"/>
                  </a:lnTo>
                  <a:lnTo>
                    <a:pt x="0" y="4286"/>
                  </a:lnTo>
                  <a:lnTo>
                    <a:pt x="4286" y="0"/>
                  </a:lnTo>
                  <a:lnTo>
                    <a:pt x="9391650" y="0"/>
                  </a:lnTo>
                  <a:lnTo>
                    <a:pt x="9395936" y="4286"/>
                  </a:lnTo>
                  <a:lnTo>
                    <a:pt x="9395936" y="14763"/>
                  </a:lnTo>
                  <a:lnTo>
                    <a:pt x="9391650" y="19050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872" y="6371329"/>
              <a:ext cx="8070247" cy="163372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932709" y="6888226"/>
            <a:ext cx="26987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155">
                <a:solidFill>
                  <a:srgbClr val="454140"/>
                </a:solidFill>
                <a:latin typeface="Cambria"/>
                <a:cs typeface="Cambria"/>
              </a:rPr>
              <a:t>3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73891" y="6383694"/>
            <a:ext cx="3136265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315">
                <a:solidFill>
                  <a:srgbClr val="454140"/>
                </a:solidFill>
                <a:latin typeface="Cambria"/>
                <a:cs typeface="Cambria"/>
              </a:rPr>
              <a:t>New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50%</a:t>
            </a:r>
            <a:r>
              <a:rPr dirty="0" sz="2150" spc="-8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340">
                <a:solidFill>
                  <a:srgbClr val="454140"/>
                </a:solidFill>
                <a:latin typeface="Tahoma"/>
                <a:cs typeface="Tahoma"/>
              </a:rPr>
              <a:t>-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54140"/>
                </a:solidFill>
                <a:latin typeface="Tahoma"/>
                <a:cs typeface="Tahoma"/>
              </a:rPr>
              <a:t>First-</a:t>
            </a:r>
            <a:r>
              <a:rPr dirty="0" sz="2150" spc="95">
                <a:solidFill>
                  <a:srgbClr val="454140"/>
                </a:solidFill>
                <a:latin typeface="Tahoma"/>
                <a:cs typeface="Tahoma"/>
              </a:rPr>
              <a:t>time</a:t>
            </a:r>
            <a:r>
              <a:rPr dirty="0" sz="2150" spc="-7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buyers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9538" y="8278773"/>
            <a:ext cx="7360284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10">
                <a:solidFill>
                  <a:srgbClr val="454140"/>
                </a:solidFill>
                <a:latin typeface="Tahoma"/>
                <a:cs typeface="Tahoma"/>
              </a:rPr>
              <a:t>Focus</a:t>
            </a:r>
            <a:r>
              <a:rPr dirty="0" sz="215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54140"/>
                </a:solidFill>
                <a:latin typeface="Tahoma"/>
                <a:cs typeface="Tahoma"/>
              </a:rPr>
              <a:t>on</a:t>
            </a:r>
            <a:r>
              <a:rPr dirty="0" sz="215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54140"/>
                </a:solidFill>
                <a:latin typeface="Tahoma"/>
                <a:cs typeface="Tahoma"/>
              </a:rPr>
              <a:t>converting</a:t>
            </a:r>
            <a:r>
              <a:rPr dirty="0" sz="215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54140"/>
                </a:solidFill>
                <a:latin typeface="Tahoma"/>
                <a:cs typeface="Tahoma"/>
              </a:rPr>
              <a:t>New</a:t>
            </a:r>
            <a:r>
              <a:rPr dirty="0" sz="2150" spc="-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15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Returning,</a:t>
            </a:r>
            <a:r>
              <a:rPr dirty="0" sz="215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54140"/>
                </a:solidFill>
                <a:latin typeface="Tahoma"/>
                <a:cs typeface="Tahoma"/>
              </a:rPr>
              <a:t>Returning</a:t>
            </a:r>
            <a:r>
              <a:rPr dirty="0" sz="2150" spc="-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2150" spc="-4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54140"/>
                </a:solidFill>
                <a:latin typeface="Tahoma"/>
                <a:cs typeface="Tahoma"/>
              </a:rPr>
              <a:t>Loyal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4136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30651" y="493245"/>
            <a:ext cx="7031990" cy="6064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800" spc="290"/>
              <a:t>Strategic</a:t>
            </a:r>
            <a:r>
              <a:rPr dirty="0" sz="3800" spc="270"/>
              <a:t> </a:t>
            </a:r>
            <a:r>
              <a:rPr dirty="0" sz="3800" spc="420"/>
              <a:t>Recommendations</a:t>
            </a:r>
            <a:endParaRPr sz="3800"/>
          </a:p>
        </p:txBody>
      </p:sp>
      <p:grpSp>
        <p:nvGrpSpPr>
          <p:cNvPr id="4" name="object 4"/>
          <p:cNvGrpSpPr/>
          <p:nvPr/>
        </p:nvGrpSpPr>
        <p:grpSpPr>
          <a:xfrm>
            <a:off x="7529442" y="1429644"/>
            <a:ext cx="10086975" cy="1958975"/>
            <a:chOff x="7529442" y="1429644"/>
            <a:chExt cx="10086975" cy="1958975"/>
          </a:xfrm>
        </p:grpSpPr>
        <p:sp>
          <p:nvSpPr>
            <p:cNvPr id="5" name="object 5"/>
            <p:cNvSpPr/>
            <p:nvPr/>
          </p:nvSpPr>
          <p:spPr>
            <a:xfrm>
              <a:off x="7538588" y="1439170"/>
              <a:ext cx="10069195" cy="1939925"/>
            </a:xfrm>
            <a:custGeom>
              <a:avLst/>
              <a:gdLst/>
              <a:ahLst/>
              <a:cxnLst/>
              <a:rect l="l" t="t" r="r" b="b"/>
              <a:pathLst>
                <a:path w="10069194" h="1939925">
                  <a:moveTo>
                    <a:pt x="9986202" y="1939861"/>
                  </a:moveTo>
                  <a:lnTo>
                    <a:pt x="82676" y="1939861"/>
                  </a:lnTo>
                  <a:lnTo>
                    <a:pt x="50510" y="1933359"/>
                  </a:lnTo>
                  <a:lnTo>
                    <a:pt x="24229" y="1915632"/>
                  </a:lnTo>
                  <a:lnTo>
                    <a:pt x="6502" y="1889350"/>
                  </a:lnTo>
                  <a:lnTo>
                    <a:pt x="0" y="1857184"/>
                  </a:lnTo>
                  <a:lnTo>
                    <a:pt x="0" y="82676"/>
                  </a:lnTo>
                  <a:lnTo>
                    <a:pt x="6502" y="50510"/>
                  </a:lnTo>
                  <a:lnTo>
                    <a:pt x="24229" y="24229"/>
                  </a:lnTo>
                  <a:lnTo>
                    <a:pt x="50510" y="6502"/>
                  </a:lnTo>
                  <a:lnTo>
                    <a:pt x="82676" y="0"/>
                  </a:lnTo>
                  <a:lnTo>
                    <a:pt x="9986202" y="0"/>
                  </a:lnTo>
                  <a:lnTo>
                    <a:pt x="10018368" y="6502"/>
                  </a:lnTo>
                  <a:lnTo>
                    <a:pt x="10044649" y="24229"/>
                  </a:lnTo>
                  <a:lnTo>
                    <a:pt x="10062376" y="50510"/>
                  </a:lnTo>
                  <a:lnTo>
                    <a:pt x="10068879" y="82676"/>
                  </a:lnTo>
                  <a:lnTo>
                    <a:pt x="10068879" y="1857184"/>
                  </a:lnTo>
                  <a:lnTo>
                    <a:pt x="10062376" y="1889350"/>
                  </a:lnTo>
                  <a:lnTo>
                    <a:pt x="10044649" y="1915632"/>
                  </a:lnTo>
                  <a:lnTo>
                    <a:pt x="10018368" y="1933359"/>
                  </a:lnTo>
                  <a:lnTo>
                    <a:pt x="9986202" y="1939861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38967" y="1439169"/>
              <a:ext cx="10067925" cy="1939925"/>
            </a:xfrm>
            <a:custGeom>
              <a:avLst/>
              <a:gdLst/>
              <a:ahLst/>
              <a:cxnLst/>
              <a:rect l="l" t="t" r="r" b="b"/>
              <a:pathLst>
                <a:path w="10067925" h="1939925">
                  <a:moveTo>
                    <a:pt x="10067547" y="1859864"/>
                  </a:moveTo>
                  <a:lnTo>
                    <a:pt x="10061614" y="1889207"/>
                  </a:lnTo>
                  <a:lnTo>
                    <a:pt x="10043889" y="1915487"/>
                  </a:lnTo>
                  <a:lnTo>
                    <a:pt x="10017610" y="1933213"/>
                  </a:lnTo>
                  <a:lnTo>
                    <a:pt x="9985446" y="1939715"/>
                  </a:lnTo>
                  <a:lnTo>
                    <a:pt x="82670" y="1939715"/>
                  </a:lnTo>
                  <a:lnTo>
                    <a:pt x="50506" y="1933213"/>
                  </a:lnTo>
                  <a:lnTo>
                    <a:pt x="24227" y="1915487"/>
                  </a:lnTo>
                  <a:lnTo>
                    <a:pt x="6501" y="1889208"/>
                  </a:lnTo>
                  <a:lnTo>
                    <a:pt x="0" y="1857044"/>
                  </a:lnTo>
                  <a:lnTo>
                    <a:pt x="0" y="82670"/>
                  </a:lnTo>
                  <a:lnTo>
                    <a:pt x="6501" y="50506"/>
                  </a:lnTo>
                  <a:lnTo>
                    <a:pt x="24227" y="24227"/>
                  </a:lnTo>
                  <a:lnTo>
                    <a:pt x="50507" y="6501"/>
                  </a:lnTo>
                  <a:lnTo>
                    <a:pt x="82670" y="0"/>
                  </a:lnTo>
                  <a:lnTo>
                    <a:pt x="9985446" y="0"/>
                  </a:lnTo>
                  <a:lnTo>
                    <a:pt x="10017610" y="6501"/>
                  </a:lnTo>
                  <a:lnTo>
                    <a:pt x="10043889" y="24227"/>
                  </a:lnTo>
                  <a:lnTo>
                    <a:pt x="10061614" y="50507"/>
                  </a:lnTo>
                  <a:lnTo>
                    <a:pt x="10067547" y="79850"/>
                  </a:lnTo>
                </a:path>
              </a:pathLst>
            </a:custGeom>
            <a:ln w="19049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748586" y="1649167"/>
              <a:ext cx="588010" cy="588010"/>
            </a:xfrm>
            <a:custGeom>
              <a:avLst/>
              <a:gdLst/>
              <a:ahLst/>
              <a:cxnLst/>
              <a:rect l="l" t="t" r="r" b="b"/>
              <a:pathLst>
                <a:path w="588009" h="588010">
                  <a:moveTo>
                    <a:pt x="293751" y="587406"/>
                  </a:moveTo>
                  <a:lnTo>
                    <a:pt x="246108" y="583564"/>
                  </a:lnTo>
                  <a:lnTo>
                    <a:pt x="200912" y="572438"/>
                  </a:lnTo>
                  <a:lnTo>
                    <a:pt x="158765" y="554634"/>
                  </a:lnTo>
                  <a:lnTo>
                    <a:pt x="120275" y="530756"/>
                  </a:lnTo>
                  <a:lnTo>
                    <a:pt x="86046" y="501407"/>
                  </a:lnTo>
                  <a:lnTo>
                    <a:pt x="56683" y="467192"/>
                  </a:lnTo>
                  <a:lnTo>
                    <a:pt x="32792" y="428715"/>
                  </a:lnTo>
                  <a:lnTo>
                    <a:pt x="14977" y="386580"/>
                  </a:lnTo>
                  <a:lnTo>
                    <a:pt x="3845" y="341390"/>
                  </a:lnTo>
                  <a:lnTo>
                    <a:pt x="0" y="293751"/>
                  </a:lnTo>
                  <a:lnTo>
                    <a:pt x="3845" y="246108"/>
                  </a:lnTo>
                  <a:lnTo>
                    <a:pt x="14977" y="200911"/>
                  </a:lnTo>
                  <a:lnTo>
                    <a:pt x="32792" y="158765"/>
                  </a:lnTo>
                  <a:lnTo>
                    <a:pt x="56683" y="120275"/>
                  </a:lnTo>
                  <a:lnTo>
                    <a:pt x="86046" y="86046"/>
                  </a:lnTo>
                  <a:lnTo>
                    <a:pt x="120275" y="56683"/>
                  </a:lnTo>
                  <a:lnTo>
                    <a:pt x="158765" y="32792"/>
                  </a:lnTo>
                  <a:lnTo>
                    <a:pt x="200912" y="14977"/>
                  </a:lnTo>
                  <a:lnTo>
                    <a:pt x="246108" y="3845"/>
                  </a:lnTo>
                  <a:lnTo>
                    <a:pt x="293751" y="0"/>
                  </a:lnTo>
                  <a:lnTo>
                    <a:pt x="341390" y="3845"/>
                  </a:lnTo>
                  <a:lnTo>
                    <a:pt x="386580" y="14977"/>
                  </a:lnTo>
                  <a:lnTo>
                    <a:pt x="428715" y="32792"/>
                  </a:lnTo>
                  <a:lnTo>
                    <a:pt x="467192" y="56683"/>
                  </a:lnTo>
                  <a:lnTo>
                    <a:pt x="501408" y="86046"/>
                  </a:lnTo>
                  <a:lnTo>
                    <a:pt x="530756" y="120275"/>
                  </a:lnTo>
                  <a:lnTo>
                    <a:pt x="554635" y="158765"/>
                  </a:lnTo>
                  <a:lnTo>
                    <a:pt x="572438" y="200911"/>
                  </a:lnTo>
                  <a:lnTo>
                    <a:pt x="583564" y="246108"/>
                  </a:lnTo>
                  <a:lnTo>
                    <a:pt x="587406" y="293751"/>
                  </a:lnTo>
                  <a:lnTo>
                    <a:pt x="583564" y="341390"/>
                  </a:lnTo>
                  <a:lnTo>
                    <a:pt x="572438" y="386580"/>
                  </a:lnTo>
                  <a:lnTo>
                    <a:pt x="554635" y="428715"/>
                  </a:lnTo>
                  <a:lnTo>
                    <a:pt x="530756" y="467192"/>
                  </a:lnTo>
                  <a:lnTo>
                    <a:pt x="501408" y="501407"/>
                  </a:lnTo>
                  <a:lnTo>
                    <a:pt x="467192" y="530756"/>
                  </a:lnTo>
                  <a:lnTo>
                    <a:pt x="428715" y="554634"/>
                  </a:lnTo>
                  <a:lnTo>
                    <a:pt x="386580" y="572438"/>
                  </a:lnTo>
                  <a:lnTo>
                    <a:pt x="341390" y="583564"/>
                  </a:lnTo>
                  <a:lnTo>
                    <a:pt x="293751" y="587406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0063" y="1777603"/>
              <a:ext cx="264318" cy="33039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735887" y="2235011"/>
            <a:ext cx="3800475" cy="84074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50" spc="180">
                <a:solidFill>
                  <a:srgbClr val="454140"/>
                </a:solidFill>
                <a:latin typeface="Cambria"/>
                <a:cs typeface="Cambria"/>
              </a:rPr>
              <a:t>Boost</a:t>
            </a:r>
            <a:r>
              <a:rPr dirty="0" sz="1850" spc="135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1850" spc="155">
                <a:solidFill>
                  <a:srgbClr val="454140"/>
                </a:solidFill>
                <a:latin typeface="Cambria"/>
                <a:cs typeface="Cambria"/>
              </a:rPr>
              <a:t>Subscriptions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500" spc="55">
                <a:solidFill>
                  <a:srgbClr val="454140"/>
                </a:solidFill>
                <a:latin typeface="Tahoma"/>
                <a:cs typeface="Tahoma"/>
              </a:rPr>
              <a:t>Promote</a:t>
            </a:r>
            <a:r>
              <a:rPr dirty="0" sz="1500" spc="-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45">
                <a:solidFill>
                  <a:srgbClr val="454140"/>
                </a:solidFill>
                <a:latin typeface="Tahoma"/>
                <a:cs typeface="Tahoma"/>
              </a:rPr>
              <a:t>exclusive</a:t>
            </a:r>
            <a:r>
              <a:rPr dirty="0" sz="1500" spc="-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454140"/>
                </a:solidFill>
                <a:latin typeface="Tahoma"/>
                <a:cs typeface="Tahoma"/>
              </a:rPr>
              <a:t>benefits</a:t>
            </a:r>
            <a:r>
              <a:rPr dirty="0" sz="1500" spc="-3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54140"/>
                </a:solidFill>
                <a:latin typeface="Tahoma"/>
                <a:cs typeface="Tahoma"/>
              </a:rPr>
              <a:t>for</a:t>
            </a:r>
            <a:r>
              <a:rPr dirty="0" sz="1500" spc="-3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454140"/>
                </a:solidFill>
                <a:latin typeface="Tahoma"/>
                <a:cs typeface="Tahoma"/>
              </a:rPr>
              <a:t>subscribers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29442" y="3555653"/>
            <a:ext cx="10086975" cy="1958975"/>
            <a:chOff x="7529442" y="3555653"/>
            <a:chExt cx="10086975" cy="1958975"/>
          </a:xfrm>
        </p:grpSpPr>
        <p:sp>
          <p:nvSpPr>
            <p:cNvPr id="11" name="object 11"/>
            <p:cNvSpPr/>
            <p:nvPr/>
          </p:nvSpPr>
          <p:spPr>
            <a:xfrm>
              <a:off x="7538588" y="3565179"/>
              <a:ext cx="10069195" cy="1939925"/>
            </a:xfrm>
            <a:custGeom>
              <a:avLst/>
              <a:gdLst/>
              <a:ahLst/>
              <a:cxnLst/>
              <a:rect l="l" t="t" r="r" b="b"/>
              <a:pathLst>
                <a:path w="10069194" h="1939925">
                  <a:moveTo>
                    <a:pt x="9986202" y="1939861"/>
                  </a:moveTo>
                  <a:lnTo>
                    <a:pt x="82676" y="1939861"/>
                  </a:lnTo>
                  <a:lnTo>
                    <a:pt x="50510" y="1933359"/>
                  </a:lnTo>
                  <a:lnTo>
                    <a:pt x="24229" y="1915632"/>
                  </a:lnTo>
                  <a:lnTo>
                    <a:pt x="6502" y="1889351"/>
                  </a:lnTo>
                  <a:lnTo>
                    <a:pt x="0" y="1857184"/>
                  </a:lnTo>
                  <a:lnTo>
                    <a:pt x="0" y="82676"/>
                  </a:lnTo>
                  <a:lnTo>
                    <a:pt x="6502" y="50510"/>
                  </a:lnTo>
                  <a:lnTo>
                    <a:pt x="24229" y="24229"/>
                  </a:lnTo>
                  <a:lnTo>
                    <a:pt x="50510" y="6502"/>
                  </a:lnTo>
                  <a:lnTo>
                    <a:pt x="82676" y="0"/>
                  </a:lnTo>
                  <a:lnTo>
                    <a:pt x="9986202" y="0"/>
                  </a:lnTo>
                  <a:lnTo>
                    <a:pt x="10018368" y="6502"/>
                  </a:lnTo>
                  <a:lnTo>
                    <a:pt x="10044649" y="24229"/>
                  </a:lnTo>
                  <a:lnTo>
                    <a:pt x="10062376" y="50510"/>
                  </a:lnTo>
                  <a:lnTo>
                    <a:pt x="10068879" y="82676"/>
                  </a:lnTo>
                  <a:lnTo>
                    <a:pt x="10068879" y="1857184"/>
                  </a:lnTo>
                  <a:lnTo>
                    <a:pt x="10062376" y="1889351"/>
                  </a:lnTo>
                  <a:lnTo>
                    <a:pt x="10044649" y="1915632"/>
                  </a:lnTo>
                  <a:lnTo>
                    <a:pt x="10018368" y="1933359"/>
                  </a:lnTo>
                  <a:lnTo>
                    <a:pt x="9986202" y="1939861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538967" y="3565178"/>
              <a:ext cx="10067925" cy="1939925"/>
            </a:xfrm>
            <a:custGeom>
              <a:avLst/>
              <a:gdLst/>
              <a:ahLst/>
              <a:cxnLst/>
              <a:rect l="l" t="t" r="r" b="b"/>
              <a:pathLst>
                <a:path w="10067925" h="1939925">
                  <a:moveTo>
                    <a:pt x="10067547" y="1859864"/>
                  </a:moveTo>
                  <a:lnTo>
                    <a:pt x="10061614" y="1889207"/>
                  </a:lnTo>
                  <a:lnTo>
                    <a:pt x="10043889" y="1915487"/>
                  </a:lnTo>
                  <a:lnTo>
                    <a:pt x="10017610" y="1933213"/>
                  </a:lnTo>
                  <a:lnTo>
                    <a:pt x="9985446" y="1939715"/>
                  </a:lnTo>
                  <a:lnTo>
                    <a:pt x="82670" y="1939715"/>
                  </a:lnTo>
                  <a:lnTo>
                    <a:pt x="50506" y="1933213"/>
                  </a:lnTo>
                  <a:lnTo>
                    <a:pt x="24227" y="1915487"/>
                  </a:lnTo>
                  <a:lnTo>
                    <a:pt x="6501" y="1889208"/>
                  </a:lnTo>
                  <a:lnTo>
                    <a:pt x="0" y="1857044"/>
                  </a:lnTo>
                  <a:lnTo>
                    <a:pt x="0" y="82670"/>
                  </a:lnTo>
                  <a:lnTo>
                    <a:pt x="6501" y="50506"/>
                  </a:lnTo>
                  <a:lnTo>
                    <a:pt x="24227" y="24227"/>
                  </a:lnTo>
                  <a:lnTo>
                    <a:pt x="50507" y="6501"/>
                  </a:lnTo>
                  <a:lnTo>
                    <a:pt x="82670" y="0"/>
                  </a:lnTo>
                  <a:lnTo>
                    <a:pt x="9985446" y="0"/>
                  </a:lnTo>
                  <a:lnTo>
                    <a:pt x="10017610" y="6501"/>
                  </a:lnTo>
                  <a:lnTo>
                    <a:pt x="10043889" y="24227"/>
                  </a:lnTo>
                  <a:lnTo>
                    <a:pt x="10061614" y="50507"/>
                  </a:lnTo>
                  <a:lnTo>
                    <a:pt x="10067547" y="79850"/>
                  </a:lnTo>
                </a:path>
              </a:pathLst>
            </a:custGeom>
            <a:ln w="19050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748586" y="3775176"/>
              <a:ext cx="588010" cy="588010"/>
            </a:xfrm>
            <a:custGeom>
              <a:avLst/>
              <a:gdLst/>
              <a:ahLst/>
              <a:cxnLst/>
              <a:rect l="l" t="t" r="r" b="b"/>
              <a:pathLst>
                <a:path w="588009" h="588010">
                  <a:moveTo>
                    <a:pt x="293751" y="587406"/>
                  </a:moveTo>
                  <a:lnTo>
                    <a:pt x="246108" y="583564"/>
                  </a:lnTo>
                  <a:lnTo>
                    <a:pt x="200912" y="572438"/>
                  </a:lnTo>
                  <a:lnTo>
                    <a:pt x="158765" y="554634"/>
                  </a:lnTo>
                  <a:lnTo>
                    <a:pt x="120275" y="530756"/>
                  </a:lnTo>
                  <a:lnTo>
                    <a:pt x="86046" y="501407"/>
                  </a:lnTo>
                  <a:lnTo>
                    <a:pt x="56683" y="467192"/>
                  </a:lnTo>
                  <a:lnTo>
                    <a:pt x="32792" y="428715"/>
                  </a:lnTo>
                  <a:lnTo>
                    <a:pt x="14977" y="386580"/>
                  </a:lnTo>
                  <a:lnTo>
                    <a:pt x="3845" y="341390"/>
                  </a:lnTo>
                  <a:lnTo>
                    <a:pt x="0" y="293751"/>
                  </a:lnTo>
                  <a:lnTo>
                    <a:pt x="3845" y="246108"/>
                  </a:lnTo>
                  <a:lnTo>
                    <a:pt x="14977" y="200911"/>
                  </a:lnTo>
                  <a:lnTo>
                    <a:pt x="32792" y="158765"/>
                  </a:lnTo>
                  <a:lnTo>
                    <a:pt x="56683" y="120275"/>
                  </a:lnTo>
                  <a:lnTo>
                    <a:pt x="86046" y="86046"/>
                  </a:lnTo>
                  <a:lnTo>
                    <a:pt x="120275" y="56683"/>
                  </a:lnTo>
                  <a:lnTo>
                    <a:pt x="158765" y="32792"/>
                  </a:lnTo>
                  <a:lnTo>
                    <a:pt x="200912" y="14977"/>
                  </a:lnTo>
                  <a:lnTo>
                    <a:pt x="246108" y="3845"/>
                  </a:lnTo>
                  <a:lnTo>
                    <a:pt x="293751" y="0"/>
                  </a:lnTo>
                  <a:lnTo>
                    <a:pt x="341390" y="3845"/>
                  </a:lnTo>
                  <a:lnTo>
                    <a:pt x="386580" y="14977"/>
                  </a:lnTo>
                  <a:lnTo>
                    <a:pt x="428715" y="32792"/>
                  </a:lnTo>
                  <a:lnTo>
                    <a:pt x="467192" y="56683"/>
                  </a:lnTo>
                  <a:lnTo>
                    <a:pt x="501408" y="86046"/>
                  </a:lnTo>
                  <a:lnTo>
                    <a:pt x="530756" y="120275"/>
                  </a:lnTo>
                  <a:lnTo>
                    <a:pt x="554635" y="158765"/>
                  </a:lnTo>
                  <a:lnTo>
                    <a:pt x="572438" y="200911"/>
                  </a:lnTo>
                  <a:lnTo>
                    <a:pt x="583564" y="246108"/>
                  </a:lnTo>
                  <a:lnTo>
                    <a:pt x="587406" y="293751"/>
                  </a:lnTo>
                  <a:lnTo>
                    <a:pt x="583564" y="341390"/>
                  </a:lnTo>
                  <a:lnTo>
                    <a:pt x="572438" y="386580"/>
                  </a:lnTo>
                  <a:lnTo>
                    <a:pt x="554635" y="428715"/>
                  </a:lnTo>
                  <a:lnTo>
                    <a:pt x="530756" y="467192"/>
                  </a:lnTo>
                  <a:lnTo>
                    <a:pt x="501408" y="501407"/>
                  </a:lnTo>
                  <a:lnTo>
                    <a:pt x="467192" y="530756"/>
                  </a:lnTo>
                  <a:lnTo>
                    <a:pt x="428715" y="554634"/>
                  </a:lnTo>
                  <a:lnTo>
                    <a:pt x="386580" y="572438"/>
                  </a:lnTo>
                  <a:lnTo>
                    <a:pt x="341390" y="583564"/>
                  </a:lnTo>
                  <a:lnTo>
                    <a:pt x="293751" y="587406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0063" y="3903611"/>
              <a:ext cx="264318" cy="33039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735887" y="4361008"/>
            <a:ext cx="3867785" cy="84074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50" spc="204">
                <a:solidFill>
                  <a:srgbClr val="454140"/>
                </a:solidFill>
                <a:latin typeface="Cambria"/>
                <a:cs typeface="Cambria"/>
              </a:rPr>
              <a:t>Loyalty</a:t>
            </a:r>
            <a:r>
              <a:rPr dirty="0" sz="1850" spc="130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1850" spc="185">
                <a:solidFill>
                  <a:srgbClr val="454140"/>
                </a:solidFill>
                <a:latin typeface="Cambria"/>
                <a:cs typeface="Cambria"/>
              </a:rPr>
              <a:t>Programs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500">
                <a:solidFill>
                  <a:srgbClr val="454140"/>
                </a:solidFill>
                <a:latin typeface="Tahoma"/>
                <a:cs typeface="Tahoma"/>
              </a:rPr>
              <a:t>Reward</a:t>
            </a:r>
            <a:r>
              <a:rPr dirty="0" sz="15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454140"/>
                </a:solidFill>
                <a:latin typeface="Tahoma"/>
                <a:cs typeface="Tahoma"/>
              </a:rPr>
              <a:t>repeat</a:t>
            </a:r>
            <a:r>
              <a:rPr dirty="0" sz="1500" spc="-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454140"/>
                </a:solidFill>
                <a:latin typeface="Tahoma"/>
                <a:cs typeface="Tahoma"/>
              </a:rPr>
              <a:t>buyers</a:t>
            </a:r>
            <a:r>
              <a:rPr dirty="0" sz="15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454140"/>
                </a:solidFill>
                <a:latin typeface="Tahoma"/>
                <a:cs typeface="Tahoma"/>
              </a:rPr>
              <a:t>to</a:t>
            </a:r>
            <a:r>
              <a:rPr dirty="0" sz="1500" spc="-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454140"/>
                </a:solidFill>
                <a:latin typeface="Tahoma"/>
                <a:cs typeface="Tahoma"/>
              </a:rPr>
              <a:t>increase</a:t>
            </a:r>
            <a:r>
              <a:rPr dirty="0" sz="15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35">
                <a:solidFill>
                  <a:srgbClr val="454140"/>
                </a:solidFill>
                <a:latin typeface="Tahoma"/>
                <a:cs typeface="Tahoma"/>
              </a:rPr>
              <a:t>retention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29442" y="5681662"/>
            <a:ext cx="10086975" cy="1958975"/>
            <a:chOff x="7529442" y="5681662"/>
            <a:chExt cx="10086975" cy="1958975"/>
          </a:xfrm>
        </p:grpSpPr>
        <p:sp>
          <p:nvSpPr>
            <p:cNvPr id="17" name="object 17"/>
            <p:cNvSpPr/>
            <p:nvPr/>
          </p:nvSpPr>
          <p:spPr>
            <a:xfrm>
              <a:off x="7538588" y="5691187"/>
              <a:ext cx="10069195" cy="1939925"/>
            </a:xfrm>
            <a:custGeom>
              <a:avLst/>
              <a:gdLst/>
              <a:ahLst/>
              <a:cxnLst/>
              <a:rect l="l" t="t" r="r" b="b"/>
              <a:pathLst>
                <a:path w="10069194" h="1939925">
                  <a:moveTo>
                    <a:pt x="9986202" y="1939861"/>
                  </a:moveTo>
                  <a:lnTo>
                    <a:pt x="82676" y="1939861"/>
                  </a:lnTo>
                  <a:lnTo>
                    <a:pt x="50510" y="1933359"/>
                  </a:lnTo>
                  <a:lnTo>
                    <a:pt x="24229" y="1915632"/>
                  </a:lnTo>
                  <a:lnTo>
                    <a:pt x="6502" y="1889350"/>
                  </a:lnTo>
                  <a:lnTo>
                    <a:pt x="0" y="1857184"/>
                  </a:lnTo>
                  <a:lnTo>
                    <a:pt x="0" y="82676"/>
                  </a:lnTo>
                  <a:lnTo>
                    <a:pt x="6502" y="50510"/>
                  </a:lnTo>
                  <a:lnTo>
                    <a:pt x="24229" y="24229"/>
                  </a:lnTo>
                  <a:lnTo>
                    <a:pt x="50510" y="6502"/>
                  </a:lnTo>
                  <a:lnTo>
                    <a:pt x="82676" y="0"/>
                  </a:lnTo>
                  <a:lnTo>
                    <a:pt x="9986202" y="0"/>
                  </a:lnTo>
                  <a:lnTo>
                    <a:pt x="10018368" y="6502"/>
                  </a:lnTo>
                  <a:lnTo>
                    <a:pt x="10044649" y="24229"/>
                  </a:lnTo>
                  <a:lnTo>
                    <a:pt x="10062376" y="50510"/>
                  </a:lnTo>
                  <a:lnTo>
                    <a:pt x="10068879" y="82676"/>
                  </a:lnTo>
                  <a:lnTo>
                    <a:pt x="10068879" y="1857184"/>
                  </a:lnTo>
                  <a:lnTo>
                    <a:pt x="10062376" y="1889350"/>
                  </a:lnTo>
                  <a:lnTo>
                    <a:pt x="10044649" y="1915632"/>
                  </a:lnTo>
                  <a:lnTo>
                    <a:pt x="10018368" y="1933359"/>
                  </a:lnTo>
                  <a:lnTo>
                    <a:pt x="9986202" y="1939861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538967" y="5691187"/>
              <a:ext cx="10067925" cy="1939925"/>
            </a:xfrm>
            <a:custGeom>
              <a:avLst/>
              <a:gdLst/>
              <a:ahLst/>
              <a:cxnLst/>
              <a:rect l="l" t="t" r="r" b="b"/>
              <a:pathLst>
                <a:path w="10067925" h="1939925">
                  <a:moveTo>
                    <a:pt x="10067547" y="1859864"/>
                  </a:moveTo>
                  <a:lnTo>
                    <a:pt x="10061614" y="1889207"/>
                  </a:lnTo>
                  <a:lnTo>
                    <a:pt x="10043889" y="1915487"/>
                  </a:lnTo>
                  <a:lnTo>
                    <a:pt x="10017610" y="1933213"/>
                  </a:lnTo>
                  <a:lnTo>
                    <a:pt x="9985446" y="1939714"/>
                  </a:lnTo>
                  <a:lnTo>
                    <a:pt x="82670" y="1939714"/>
                  </a:lnTo>
                  <a:lnTo>
                    <a:pt x="24227" y="1915487"/>
                  </a:lnTo>
                  <a:lnTo>
                    <a:pt x="0" y="1857044"/>
                  </a:lnTo>
                  <a:lnTo>
                    <a:pt x="0" y="82670"/>
                  </a:lnTo>
                  <a:lnTo>
                    <a:pt x="6501" y="50506"/>
                  </a:lnTo>
                  <a:lnTo>
                    <a:pt x="24227" y="24227"/>
                  </a:lnTo>
                  <a:lnTo>
                    <a:pt x="50507" y="6501"/>
                  </a:lnTo>
                  <a:lnTo>
                    <a:pt x="82670" y="0"/>
                  </a:lnTo>
                  <a:lnTo>
                    <a:pt x="9985446" y="0"/>
                  </a:lnTo>
                  <a:lnTo>
                    <a:pt x="10017610" y="6501"/>
                  </a:lnTo>
                  <a:lnTo>
                    <a:pt x="10043889" y="24227"/>
                  </a:lnTo>
                  <a:lnTo>
                    <a:pt x="10061614" y="50507"/>
                  </a:lnTo>
                  <a:lnTo>
                    <a:pt x="10067547" y="79850"/>
                  </a:lnTo>
                </a:path>
              </a:pathLst>
            </a:custGeom>
            <a:ln w="19049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748586" y="5901185"/>
              <a:ext cx="588010" cy="588010"/>
            </a:xfrm>
            <a:custGeom>
              <a:avLst/>
              <a:gdLst/>
              <a:ahLst/>
              <a:cxnLst/>
              <a:rect l="l" t="t" r="r" b="b"/>
              <a:pathLst>
                <a:path w="588009" h="588010">
                  <a:moveTo>
                    <a:pt x="293751" y="587406"/>
                  </a:moveTo>
                  <a:lnTo>
                    <a:pt x="246108" y="583564"/>
                  </a:lnTo>
                  <a:lnTo>
                    <a:pt x="200912" y="572438"/>
                  </a:lnTo>
                  <a:lnTo>
                    <a:pt x="158765" y="554635"/>
                  </a:lnTo>
                  <a:lnTo>
                    <a:pt x="120275" y="530756"/>
                  </a:lnTo>
                  <a:lnTo>
                    <a:pt x="86046" y="501408"/>
                  </a:lnTo>
                  <a:lnTo>
                    <a:pt x="56683" y="467192"/>
                  </a:lnTo>
                  <a:lnTo>
                    <a:pt x="32792" y="428715"/>
                  </a:lnTo>
                  <a:lnTo>
                    <a:pt x="14977" y="386580"/>
                  </a:lnTo>
                  <a:lnTo>
                    <a:pt x="3845" y="341390"/>
                  </a:lnTo>
                  <a:lnTo>
                    <a:pt x="0" y="293751"/>
                  </a:lnTo>
                  <a:lnTo>
                    <a:pt x="3845" y="246108"/>
                  </a:lnTo>
                  <a:lnTo>
                    <a:pt x="14977" y="200911"/>
                  </a:lnTo>
                  <a:lnTo>
                    <a:pt x="32792" y="158765"/>
                  </a:lnTo>
                  <a:lnTo>
                    <a:pt x="56683" y="120275"/>
                  </a:lnTo>
                  <a:lnTo>
                    <a:pt x="86046" y="86046"/>
                  </a:lnTo>
                  <a:lnTo>
                    <a:pt x="120275" y="56683"/>
                  </a:lnTo>
                  <a:lnTo>
                    <a:pt x="158765" y="32792"/>
                  </a:lnTo>
                  <a:lnTo>
                    <a:pt x="200912" y="14977"/>
                  </a:lnTo>
                  <a:lnTo>
                    <a:pt x="246108" y="3845"/>
                  </a:lnTo>
                  <a:lnTo>
                    <a:pt x="293751" y="0"/>
                  </a:lnTo>
                  <a:lnTo>
                    <a:pt x="341390" y="3845"/>
                  </a:lnTo>
                  <a:lnTo>
                    <a:pt x="386580" y="14977"/>
                  </a:lnTo>
                  <a:lnTo>
                    <a:pt x="428715" y="32792"/>
                  </a:lnTo>
                  <a:lnTo>
                    <a:pt x="467192" y="56683"/>
                  </a:lnTo>
                  <a:lnTo>
                    <a:pt x="501408" y="86046"/>
                  </a:lnTo>
                  <a:lnTo>
                    <a:pt x="530756" y="120275"/>
                  </a:lnTo>
                  <a:lnTo>
                    <a:pt x="554635" y="158765"/>
                  </a:lnTo>
                  <a:lnTo>
                    <a:pt x="572438" y="200911"/>
                  </a:lnTo>
                  <a:lnTo>
                    <a:pt x="583564" y="246108"/>
                  </a:lnTo>
                  <a:lnTo>
                    <a:pt x="587406" y="293751"/>
                  </a:lnTo>
                  <a:lnTo>
                    <a:pt x="583564" y="341390"/>
                  </a:lnTo>
                  <a:lnTo>
                    <a:pt x="572438" y="386580"/>
                  </a:lnTo>
                  <a:lnTo>
                    <a:pt x="554635" y="428715"/>
                  </a:lnTo>
                  <a:lnTo>
                    <a:pt x="530756" y="467192"/>
                  </a:lnTo>
                  <a:lnTo>
                    <a:pt x="501408" y="501408"/>
                  </a:lnTo>
                  <a:lnTo>
                    <a:pt x="467192" y="530756"/>
                  </a:lnTo>
                  <a:lnTo>
                    <a:pt x="428715" y="554635"/>
                  </a:lnTo>
                  <a:lnTo>
                    <a:pt x="386580" y="572438"/>
                  </a:lnTo>
                  <a:lnTo>
                    <a:pt x="341390" y="583564"/>
                  </a:lnTo>
                  <a:lnTo>
                    <a:pt x="293751" y="587406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0063" y="6029620"/>
              <a:ext cx="264318" cy="33039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735887" y="6487038"/>
            <a:ext cx="4620895" cy="84074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50" spc="190">
                <a:solidFill>
                  <a:srgbClr val="454140"/>
                </a:solidFill>
                <a:latin typeface="Cambria"/>
                <a:cs typeface="Cambria"/>
              </a:rPr>
              <a:t>Targeted</a:t>
            </a:r>
            <a:r>
              <a:rPr dirty="0" sz="1850" spc="135">
                <a:solidFill>
                  <a:srgbClr val="454140"/>
                </a:solidFill>
                <a:latin typeface="Cambria"/>
                <a:cs typeface="Cambria"/>
              </a:rPr>
              <a:t> </a:t>
            </a:r>
            <a:r>
              <a:rPr dirty="0" sz="1850" spc="190">
                <a:solidFill>
                  <a:srgbClr val="454140"/>
                </a:solidFill>
                <a:latin typeface="Cambria"/>
                <a:cs typeface="Cambria"/>
              </a:rPr>
              <a:t>Marketing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500" spc="65">
                <a:solidFill>
                  <a:srgbClr val="454140"/>
                </a:solidFill>
                <a:latin typeface="Tahoma"/>
                <a:cs typeface="Tahoma"/>
              </a:rPr>
              <a:t>Focus</a:t>
            </a:r>
            <a:r>
              <a:rPr dirty="0" sz="1500" spc="-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54140"/>
                </a:solidFill>
                <a:latin typeface="Tahoma"/>
                <a:cs typeface="Tahoma"/>
              </a:rPr>
              <a:t>on</a:t>
            </a:r>
            <a:r>
              <a:rPr dirty="0" sz="1500" spc="-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454140"/>
                </a:solidFill>
                <a:latin typeface="Tahoma"/>
                <a:cs typeface="Tahoma"/>
              </a:rPr>
              <a:t>high-</a:t>
            </a:r>
            <a:r>
              <a:rPr dirty="0" sz="1500">
                <a:solidFill>
                  <a:srgbClr val="454140"/>
                </a:solidFill>
                <a:latin typeface="Tahoma"/>
                <a:cs typeface="Tahoma"/>
              </a:rPr>
              <a:t>revenue</a:t>
            </a:r>
            <a:r>
              <a:rPr dirty="0" sz="1500" spc="-1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454140"/>
                </a:solidFill>
                <a:latin typeface="Tahoma"/>
                <a:cs typeface="Tahoma"/>
              </a:rPr>
              <a:t>segments</a:t>
            </a:r>
            <a:r>
              <a:rPr dirty="0" sz="1500" spc="-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454140"/>
                </a:solidFill>
                <a:latin typeface="Tahoma"/>
                <a:cs typeface="Tahoma"/>
              </a:rPr>
              <a:t>and</a:t>
            </a:r>
            <a:r>
              <a:rPr dirty="0" sz="1500" spc="-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454140"/>
                </a:solidFill>
                <a:latin typeface="Tahoma"/>
                <a:cs typeface="Tahoma"/>
              </a:rPr>
              <a:t>express</a:t>
            </a:r>
            <a:r>
              <a:rPr dirty="0" sz="1500" spc="-10">
                <a:solidFill>
                  <a:srgbClr val="454140"/>
                </a:solidFill>
                <a:latin typeface="Tahoma"/>
                <a:cs typeface="Tahoma"/>
              </a:rPr>
              <a:t> users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529442" y="7807670"/>
            <a:ext cx="10086975" cy="1958975"/>
            <a:chOff x="7529442" y="7807670"/>
            <a:chExt cx="10086975" cy="1958975"/>
          </a:xfrm>
        </p:grpSpPr>
        <p:sp>
          <p:nvSpPr>
            <p:cNvPr id="23" name="object 23"/>
            <p:cNvSpPr/>
            <p:nvPr/>
          </p:nvSpPr>
          <p:spPr>
            <a:xfrm>
              <a:off x="7538588" y="7817195"/>
              <a:ext cx="10069195" cy="1939925"/>
            </a:xfrm>
            <a:custGeom>
              <a:avLst/>
              <a:gdLst/>
              <a:ahLst/>
              <a:cxnLst/>
              <a:rect l="l" t="t" r="r" b="b"/>
              <a:pathLst>
                <a:path w="10069194" h="1939925">
                  <a:moveTo>
                    <a:pt x="9986202" y="1939861"/>
                  </a:moveTo>
                  <a:lnTo>
                    <a:pt x="82676" y="1939861"/>
                  </a:lnTo>
                  <a:lnTo>
                    <a:pt x="50510" y="1933359"/>
                  </a:lnTo>
                  <a:lnTo>
                    <a:pt x="24229" y="1915632"/>
                  </a:lnTo>
                  <a:lnTo>
                    <a:pt x="6502" y="1889350"/>
                  </a:lnTo>
                  <a:lnTo>
                    <a:pt x="0" y="1857184"/>
                  </a:lnTo>
                  <a:lnTo>
                    <a:pt x="0" y="82676"/>
                  </a:lnTo>
                  <a:lnTo>
                    <a:pt x="6502" y="50510"/>
                  </a:lnTo>
                  <a:lnTo>
                    <a:pt x="24229" y="24229"/>
                  </a:lnTo>
                  <a:lnTo>
                    <a:pt x="50510" y="6502"/>
                  </a:lnTo>
                  <a:lnTo>
                    <a:pt x="82676" y="0"/>
                  </a:lnTo>
                  <a:lnTo>
                    <a:pt x="9986202" y="0"/>
                  </a:lnTo>
                  <a:lnTo>
                    <a:pt x="10018368" y="6502"/>
                  </a:lnTo>
                  <a:lnTo>
                    <a:pt x="10044649" y="24229"/>
                  </a:lnTo>
                  <a:lnTo>
                    <a:pt x="10062376" y="50510"/>
                  </a:lnTo>
                  <a:lnTo>
                    <a:pt x="10068879" y="82676"/>
                  </a:lnTo>
                  <a:lnTo>
                    <a:pt x="10068879" y="1857184"/>
                  </a:lnTo>
                  <a:lnTo>
                    <a:pt x="10062376" y="1889350"/>
                  </a:lnTo>
                  <a:lnTo>
                    <a:pt x="10044649" y="1915632"/>
                  </a:lnTo>
                  <a:lnTo>
                    <a:pt x="10018368" y="1933359"/>
                  </a:lnTo>
                  <a:lnTo>
                    <a:pt x="9986202" y="1939861"/>
                  </a:lnTo>
                  <a:close/>
                </a:path>
              </a:pathLst>
            </a:custGeom>
            <a:solidFill>
              <a:srgbClr val="F6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538967" y="7817195"/>
              <a:ext cx="10067925" cy="1939925"/>
            </a:xfrm>
            <a:custGeom>
              <a:avLst/>
              <a:gdLst/>
              <a:ahLst/>
              <a:cxnLst/>
              <a:rect l="l" t="t" r="r" b="b"/>
              <a:pathLst>
                <a:path w="10067925" h="1939925">
                  <a:moveTo>
                    <a:pt x="10067547" y="1859864"/>
                  </a:moveTo>
                  <a:lnTo>
                    <a:pt x="10061614" y="1889207"/>
                  </a:lnTo>
                  <a:lnTo>
                    <a:pt x="10043889" y="1915487"/>
                  </a:lnTo>
                  <a:lnTo>
                    <a:pt x="10017610" y="1933213"/>
                  </a:lnTo>
                  <a:lnTo>
                    <a:pt x="9985446" y="1939714"/>
                  </a:lnTo>
                  <a:lnTo>
                    <a:pt x="82670" y="1939714"/>
                  </a:lnTo>
                  <a:lnTo>
                    <a:pt x="50506" y="1933213"/>
                  </a:lnTo>
                  <a:lnTo>
                    <a:pt x="24227" y="1915487"/>
                  </a:lnTo>
                  <a:lnTo>
                    <a:pt x="6501" y="1889207"/>
                  </a:lnTo>
                  <a:lnTo>
                    <a:pt x="0" y="1857044"/>
                  </a:lnTo>
                  <a:lnTo>
                    <a:pt x="0" y="82670"/>
                  </a:lnTo>
                  <a:lnTo>
                    <a:pt x="6501" y="50506"/>
                  </a:lnTo>
                  <a:lnTo>
                    <a:pt x="24227" y="24227"/>
                  </a:lnTo>
                  <a:lnTo>
                    <a:pt x="50507" y="6501"/>
                  </a:lnTo>
                  <a:lnTo>
                    <a:pt x="82670" y="0"/>
                  </a:lnTo>
                  <a:lnTo>
                    <a:pt x="9985446" y="0"/>
                  </a:lnTo>
                  <a:lnTo>
                    <a:pt x="10017609" y="6501"/>
                  </a:lnTo>
                  <a:lnTo>
                    <a:pt x="10043889" y="24227"/>
                  </a:lnTo>
                  <a:lnTo>
                    <a:pt x="10061614" y="50506"/>
                  </a:lnTo>
                  <a:lnTo>
                    <a:pt x="10067547" y="79851"/>
                  </a:lnTo>
                </a:path>
              </a:pathLst>
            </a:custGeom>
            <a:ln w="19050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748586" y="8027193"/>
              <a:ext cx="588010" cy="588010"/>
            </a:xfrm>
            <a:custGeom>
              <a:avLst/>
              <a:gdLst/>
              <a:ahLst/>
              <a:cxnLst/>
              <a:rect l="l" t="t" r="r" b="b"/>
              <a:pathLst>
                <a:path w="588009" h="588009">
                  <a:moveTo>
                    <a:pt x="293751" y="587406"/>
                  </a:moveTo>
                  <a:lnTo>
                    <a:pt x="246108" y="583563"/>
                  </a:lnTo>
                  <a:lnTo>
                    <a:pt x="200912" y="572438"/>
                  </a:lnTo>
                  <a:lnTo>
                    <a:pt x="158765" y="554634"/>
                  </a:lnTo>
                  <a:lnTo>
                    <a:pt x="120275" y="530756"/>
                  </a:lnTo>
                  <a:lnTo>
                    <a:pt x="86046" y="501407"/>
                  </a:lnTo>
                  <a:lnTo>
                    <a:pt x="56683" y="467192"/>
                  </a:lnTo>
                  <a:lnTo>
                    <a:pt x="32792" y="428715"/>
                  </a:lnTo>
                  <a:lnTo>
                    <a:pt x="14977" y="386580"/>
                  </a:lnTo>
                  <a:lnTo>
                    <a:pt x="3845" y="341390"/>
                  </a:lnTo>
                  <a:lnTo>
                    <a:pt x="0" y="293751"/>
                  </a:lnTo>
                  <a:lnTo>
                    <a:pt x="3845" y="246108"/>
                  </a:lnTo>
                  <a:lnTo>
                    <a:pt x="14977" y="200911"/>
                  </a:lnTo>
                  <a:lnTo>
                    <a:pt x="32792" y="158765"/>
                  </a:lnTo>
                  <a:lnTo>
                    <a:pt x="56683" y="120275"/>
                  </a:lnTo>
                  <a:lnTo>
                    <a:pt x="86046" y="86046"/>
                  </a:lnTo>
                  <a:lnTo>
                    <a:pt x="120275" y="56683"/>
                  </a:lnTo>
                  <a:lnTo>
                    <a:pt x="158765" y="32792"/>
                  </a:lnTo>
                  <a:lnTo>
                    <a:pt x="200912" y="14977"/>
                  </a:lnTo>
                  <a:lnTo>
                    <a:pt x="246108" y="3845"/>
                  </a:lnTo>
                  <a:lnTo>
                    <a:pt x="293751" y="0"/>
                  </a:lnTo>
                  <a:lnTo>
                    <a:pt x="341390" y="3845"/>
                  </a:lnTo>
                  <a:lnTo>
                    <a:pt x="386580" y="14977"/>
                  </a:lnTo>
                  <a:lnTo>
                    <a:pt x="428715" y="32792"/>
                  </a:lnTo>
                  <a:lnTo>
                    <a:pt x="467192" y="56683"/>
                  </a:lnTo>
                  <a:lnTo>
                    <a:pt x="501408" y="86046"/>
                  </a:lnTo>
                  <a:lnTo>
                    <a:pt x="530756" y="120275"/>
                  </a:lnTo>
                  <a:lnTo>
                    <a:pt x="554635" y="158765"/>
                  </a:lnTo>
                  <a:lnTo>
                    <a:pt x="572438" y="200911"/>
                  </a:lnTo>
                  <a:lnTo>
                    <a:pt x="583564" y="246108"/>
                  </a:lnTo>
                  <a:lnTo>
                    <a:pt x="587406" y="293751"/>
                  </a:lnTo>
                  <a:lnTo>
                    <a:pt x="583564" y="341390"/>
                  </a:lnTo>
                  <a:lnTo>
                    <a:pt x="572438" y="386580"/>
                  </a:lnTo>
                  <a:lnTo>
                    <a:pt x="554635" y="428715"/>
                  </a:lnTo>
                  <a:lnTo>
                    <a:pt x="530756" y="467192"/>
                  </a:lnTo>
                  <a:lnTo>
                    <a:pt x="501408" y="501407"/>
                  </a:lnTo>
                  <a:lnTo>
                    <a:pt x="467192" y="530756"/>
                  </a:lnTo>
                  <a:lnTo>
                    <a:pt x="428715" y="554634"/>
                  </a:lnTo>
                  <a:lnTo>
                    <a:pt x="386580" y="572438"/>
                  </a:lnTo>
                  <a:lnTo>
                    <a:pt x="341390" y="583563"/>
                  </a:lnTo>
                  <a:lnTo>
                    <a:pt x="293751" y="587406"/>
                  </a:lnTo>
                  <a:close/>
                </a:path>
              </a:pathLst>
            </a:custGeom>
            <a:solidFill>
              <a:srgbClr val="B88E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0063" y="8155628"/>
              <a:ext cx="264318" cy="3303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735887" y="8613047"/>
            <a:ext cx="3792220" cy="84074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50" spc="185">
                <a:solidFill>
                  <a:srgbClr val="454140"/>
                </a:solidFill>
                <a:latin typeface="Cambria"/>
                <a:cs typeface="Cambria"/>
              </a:rPr>
              <a:t>Product</a:t>
            </a:r>
            <a:r>
              <a:rPr dirty="0" sz="1850" spc="160">
                <a:solidFill>
                  <a:srgbClr val="454140"/>
                </a:solidFill>
                <a:latin typeface="Cambria"/>
                <a:cs typeface="Cambria"/>
              </a:rPr>
              <a:t> Positioning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500">
                <a:solidFill>
                  <a:srgbClr val="454140"/>
                </a:solidFill>
                <a:latin typeface="Tahoma"/>
                <a:cs typeface="Tahoma"/>
              </a:rPr>
              <a:t>Highlight</a:t>
            </a:r>
            <a:r>
              <a:rPr dirty="0" sz="15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120">
                <a:solidFill>
                  <a:srgbClr val="454140"/>
                </a:solidFill>
                <a:latin typeface="Tahoma"/>
                <a:cs typeface="Tahoma"/>
              </a:rPr>
              <a:t>top-</a:t>
            </a:r>
            <a:r>
              <a:rPr dirty="0" sz="1500" spc="55">
                <a:solidFill>
                  <a:srgbClr val="454140"/>
                </a:solidFill>
                <a:latin typeface="Tahoma"/>
                <a:cs typeface="Tahoma"/>
              </a:rPr>
              <a:t>rated</a:t>
            </a:r>
            <a:r>
              <a:rPr dirty="0" sz="15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80">
                <a:solidFill>
                  <a:srgbClr val="454140"/>
                </a:solidFill>
                <a:latin typeface="Tahoma"/>
                <a:cs typeface="Tahoma"/>
              </a:rPr>
              <a:t>products</a:t>
            </a:r>
            <a:r>
              <a:rPr dirty="0" sz="1500" spc="-25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54140"/>
                </a:solidFill>
                <a:latin typeface="Tahoma"/>
                <a:cs typeface="Tahoma"/>
              </a:rPr>
              <a:t>in</a:t>
            </a:r>
            <a:r>
              <a:rPr dirty="0" sz="1500" spc="-20">
                <a:solidFill>
                  <a:srgbClr val="454140"/>
                </a:solidFill>
                <a:latin typeface="Tahoma"/>
                <a:cs typeface="Tahoma"/>
              </a:rPr>
              <a:t> </a:t>
            </a:r>
            <a:r>
              <a:rPr dirty="0" sz="1500" spc="45">
                <a:solidFill>
                  <a:srgbClr val="454140"/>
                </a:solidFill>
                <a:latin typeface="Tahoma"/>
                <a:cs typeface="Tahoma"/>
              </a:rPr>
              <a:t>campaigns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zeeshanptn786</dc:creator>
  <cp:keywords>DAHP6X4Z28s,BAETNmwDxMQ</cp:keywords>
  <dc:title>Customer-Shopping-Behavior-Analysis.pptx</dc:title>
  <dcterms:created xsi:type="dcterms:W3CDTF">2026-07-20T09:41:25Z</dcterms:created>
  <dcterms:modified xsi:type="dcterms:W3CDTF">2026-07-20T09:41:25Z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2026-07-20T00:00:00Z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2026-07-20T00:00:00Z</vt:filetime>
  </property>
  <property fmtid="{D5CDD505-2E9C-101B-9397-08002B2CF9AE}" pid="6" name="Producer">
    <vt:lpwstr>Canva</vt:lpwstr>
  </property>
</Properties>
</file>